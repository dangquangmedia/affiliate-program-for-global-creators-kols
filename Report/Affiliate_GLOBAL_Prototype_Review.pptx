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34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27432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AA6FF"/>
                </a:solidFill>
                <a:latin typeface="Segoe UI"/>
              </a:rPr>
              <a:t>AFFILIATE GLOBAL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Prototype Review — Tuần A &amp;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9EAD"/>
                </a:solidFill>
                <a:latin typeface="Segoe UI"/>
              </a:rPr>
              <a:t>Nền tảng affiliate marketing đa quốc gia (VN + PH) · Báo cáo N1–N10b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49039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>
                <a:solidFill>
                  <a:srgbClr val="0B0F14"/>
                </a:solidFill>
                <a:latin typeface="Segoe UI"/>
              </a:rPr>
              <a:t>Spine chạy thật E2E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3749039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>
                <a:solidFill>
                  <a:srgbClr val="0B0F14"/>
                </a:solidFill>
                <a:latin typeface="Segoe UI"/>
              </a:rPr>
              <a:t>API 44/44 xanh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3749039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>
                <a:solidFill>
                  <a:srgbClr val="0B0F14"/>
                </a:solidFill>
                <a:latin typeface="Segoe UI"/>
              </a:rPr>
              <a:t>E2E 12/12 xanh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3749039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>
                <a:solidFill>
                  <a:srgbClr val="0B0F14"/>
                </a:solidFill>
                <a:latin typeface="Segoe UI"/>
              </a:rPr>
              <a:t>Tuần A+B hoàn thành · C+D kế tiếp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39EAD"/>
                </a:solidFill>
                <a:latin typeface="Segoe UI"/>
              </a:rPr>
              <a:t>Người thực hiện: Quang  ·  Thực tập full-time 4 tuần (N1–N20)  ·  Ngày: 19/07/2026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TÓM TẮT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Đã có gì sau 10 ngày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58400" y="45720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0B0F14"/>
                </a:solidFill>
                <a:latin typeface="Segoe UI"/>
              </a:rPr>
              <a:t>Tuần A+B 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532120" cy="365760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Luồng chạy THẬT tới trình duyệt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5166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E8EDF3"/>
                </a:solidFill>
                <a:latin typeface="Segoe UI"/>
              </a:rPr>
              <a:t>✓  Đăng nhập (mock SSO) + phiên lưu DB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E8EDF3"/>
                </a:solidFill>
                <a:latin typeface="Segoe UI"/>
              </a:rPr>
              <a:t>✓  Chọn nước VN/PH → tạo hồ sơ riêng từng nước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E8EDF3"/>
                </a:solidFill>
                <a:latin typeface="Segoe UI"/>
              </a:rPr>
              <a:t>✓  KYC: creator nộp ↔ Ops duyệt theo từng field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E8EDF3"/>
                </a:solidFill>
                <a:latin typeface="Segoe UI"/>
              </a:rPr>
              <a:t>✓  Khám phá / chi tiết campaign lọc theo nước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E8EDF3"/>
                </a:solidFill>
                <a:latin typeface="Segoe UI"/>
              </a:rPr>
              <a:t>✓  Join race-safe + snapshot điều khoản + cổng KYC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E8EDF3"/>
                </a:solidFill>
                <a:latin typeface="Segoe UI"/>
              </a:rPr>
              <a:t>✓  Hết suất → hàng chờ FCFS → tự đôn khi có suất trả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E8EDF3"/>
                </a:solidFill>
                <a:latin typeface="Segoe UI"/>
              </a:rPr>
              <a:t>✓  Worker thu hồi suất ì (+strike) · gợi ý campaign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394960" cy="173736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48132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Trạng thái kỹ thuật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7451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39EAD"/>
                </a:solidFill>
                <a:latin typeface="Segoe UI"/>
              </a:rPr>
              <a:t>API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8745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6C46A"/>
                </a:solidFill>
                <a:latin typeface="Segoe UI"/>
              </a:rPr>
              <a:t>44/44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67127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39EAD"/>
                </a:solidFill>
                <a:latin typeface="Segoe UI"/>
              </a:rPr>
              <a:t>E2E browser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671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6C46A"/>
                </a:solidFill>
                <a:latin typeface="Segoe UI"/>
              </a:rPr>
              <a:t>12/12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45973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39EAD"/>
                </a:solidFill>
                <a:latin typeface="Segoe UI"/>
              </a:rPr>
              <a:t>Lint + typecheck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45973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6C46A"/>
                </a:solidFill>
                <a:latin typeface="Segoe UI"/>
              </a:rPr>
              <a:t>sạch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523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39EAD"/>
                </a:solidFill>
                <a:latin typeface="Segoe UI"/>
              </a:rPr>
              <a:t>DB schema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7523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18 bảng lean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24612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335584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Phạm vi 4 tuần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739896"/>
            <a:ext cx="109728" cy="109728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93408" y="37033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Tuần A (N1–5)  Product +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37033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6C46A"/>
                </a:solidFill>
                <a:latin typeface="Segoe UI"/>
              </a:rPr>
              <a:t>xong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4050791"/>
            <a:ext cx="109728" cy="109728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93408" y="4014215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Tuần B (N6–10b)  Core spine + Join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4014215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6C46A"/>
                </a:solidFill>
                <a:latin typeface="Segoe UI"/>
              </a:rPr>
              <a:t>xong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361688"/>
            <a:ext cx="109728" cy="109728"/>
          </a:xfrm>
          <a:prstGeom prst="ellipse">
            <a:avLst/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93408" y="432511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Tuần C (N11–15)  Money spine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43251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0C674"/>
                </a:solidFill>
                <a:latin typeface="Segoe UI"/>
              </a:rPr>
              <a:t>kế tiếp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672584"/>
            <a:ext cx="109728" cy="109728"/>
          </a:xfrm>
          <a:prstGeom prst="ellipse">
            <a:avLst/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93408" y="463600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Tuần D (N16–20)  Triển khai + Defense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463600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0C674"/>
                </a:solidFill>
                <a:latin typeface="Segoe UI"/>
              </a:rPr>
              <a:t>kế tiếp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Ai dùng hệ thống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4924" y="1463040"/>
            <a:ext cx="2212848" cy="201168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6A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 dirty="0">
                <a:solidFill>
                  <a:srgbClr val="E8EDF3"/>
                </a:solidFill>
                <a:latin typeface="Segoe UI"/>
              </a:rPr>
              <a:t>Creator</a:t>
            </a:r>
          </a:p>
          <a:p>
            <a:pPr algn="ctr"/>
            <a:r>
              <a:rPr sz="1000" dirty="0">
                <a:solidFill>
                  <a:srgbClr val="939EAD"/>
                </a:solidFill>
                <a:latin typeface="Segoe UI"/>
              </a:rPr>
              <a:t>KOL/</a:t>
            </a:r>
            <a:r>
              <a:rPr sz="1000" dirty="0" err="1">
                <a:solidFill>
                  <a:srgbClr val="939EAD"/>
                </a:solidFill>
                <a:latin typeface="Segoe UI"/>
              </a:rPr>
              <a:t>người</a:t>
            </a:r>
            <a:r>
              <a:rPr sz="100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00" dirty="0" err="1">
                <a:solidFill>
                  <a:srgbClr val="939EAD"/>
                </a:solidFill>
                <a:latin typeface="Segoe UI"/>
              </a:rPr>
              <a:t>sáng</a:t>
            </a:r>
            <a:r>
              <a:rPr sz="100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00" dirty="0" err="1">
                <a:solidFill>
                  <a:srgbClr val="939EAD"/>
                </a:solidFill>
                <a:latin typeface="Segoe UI"/>
              </a:rPr>
              <a:t>tạo</a:t>
            </a:r>
            <a:endParaRPr sz="1000" dirty="0">
              <a:solidFill>
                <a:srgbClr val="939EAD"/>
              </a:solidFill>
              <a:latin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674620"/>
            <a:ext cx="199339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dirty="0" err="1">
                <a:solidFill>
                  <a:srgbClr val="939EAD"/>
                </a:solidFill>
                <a:latin typeface="Segoe UI"/>
              </a:rPr>
              <a:t>Tìm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campaign →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làm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content →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thấy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rõ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thu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nhập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&amp;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khi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nào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rút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được</a:t>
            </a:r>
            <a:endParaRPr sz="1050" b="0" dirty="0">
              <a:solidFill>
                <a:srgbClr val="939EAD"/>
              </a:solidFill>
              <a:latin typeface="Segoe U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816352" y="1463040"/>
            <a:ext cx="2212848" cy="201168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Local Ops</a:t>
            </a:r>
          </a:p>
          <a:p>
            <a:pPr algn="ctr"/>
            <a:r>
              <a:rPr sz="1000">
                <a:solidFill>
                  <a:srgbClr val="939EAD"/>
                </a:solidFill>
                <a:latin typeface="Segoe UI"/>
              </a:rPr>
              <a:t>Vận hành 1 nước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0944" y="2720339"/>
            <a:ext cx="199339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Duyệt KYC + content nhanh, đúng, có lý 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463040"/>
            <a:ext cx="2212848" cy="201168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Local Finance</a:t>
            </a:r>
          </a:p>
          <a:p>
            <a:pPr algn="ctr"/>
            <a:r>
              <a:rPr sz="1000">
                <a:solidFill>
                  <a:srgbClr val="939EAD"/>
                </a:solidFill>
                <a:latin typeface="Segoe UI"/>
              </a:rPr>
              <a:t>Tài chính 1 nước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86783"/>
            <a:ext cx="199339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dirty="0" err="1">
                <a:solidFill>
                  <a:srgbClr val="939EAD"/>
                </a:solidFill>
                <a:latin typeface="Segoe UI"/>
              </a:rPr>
              <a:t>Chốt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số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đúng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kỳ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,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trả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tiền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đúng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người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,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xử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lý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lệnh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lỗi</a:t>
            </a:r>
            <a:endParaRPr sz="1050" b="0" dirty="0">
              <a:solidFill>
                <a:srgbClr val="939EAD"/>
              </a:solidFill>
              <a:latin typeface="Segoe U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351776" y="1463040"/>
            <a:ext cx="2212848" cy="201168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E86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Local Admin</a:t>
            </a:r>
          </a:p>
          <a:p>
            <a:pPr algn="ctr"/>
            <a:r>
              <a:rPr sz="1000">
                <a:solidFill>
                  <a:srgbClr val="939EAD"/>
                </a:solidFill>
                <a:latin typeface="Segoe UI"/>
              </a:rPr>
              <a:t>Quản trị 1 nước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674620"/>
            <a:ext cx="199339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dirty="0" err="1">
                <a:solidFill>
                  <a:srgbClr val="939EAD"/>
                </a:solidFill>
                <a:latin typeface="Segoe UI"/>
              </a:rPr>
              <a:t>Tạo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/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quản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campaign &amp;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ngân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sách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nước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mình</a:t>
            </a:r>
            <a:endParaRPr sz="1050" b="0" dirty="0">
              <a:solidFill>
                <a:srgbClr val="939EAD"/>
              </a:solidFill>
              <a:latin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19488" y="1463040"/>
            <a:ext cx="2212848" cy="201168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Global Admin</a:t>
            </a:r>
          </a:p>
          <a:p>
            <a:pPr algn="ctr"/>
            <a:r>
              <a:rPr sz="1000">
                <a:solidFill>
                  <a:srgbClr val="939EAD"/>
                </a:solidFill>
                <a:latin typeface="Segoe UI"/>
              </a:rPr>
              <a:t>Toàn cục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3808" y="2674620"/>
            <a:ext cx="199339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dirty="0" err="1">
                <a:solidFill>
                  <a:srgbClr val="939EAD"/>
                </a:solidFill>
                <a:latin typeface="Segoe UI"/>
              </a:rPr>
              <a:t>Cấu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hình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từng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nước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,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nhìn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xuyên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quốc</a:t>
            </a:r>
            <a:r>
              <a:rPr sz="10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939EAD"/>
                </a:solidFill>
                <a:latin typeface="Segoe UI"/>
              </a:rPr>
              <a:t>gia</a:t>
            </a:r>
            <a:endParaRPr sz="1050" b="0" dirty="0">
              <a:solidFill>
                <a:srgbClr val="939EAD"/>
              </a:solidFill>
              <a:latin typeface="Segoe U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11109960" cy="22860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6A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822191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“Core Platform” KHÔNG phải một persona — mà là tầng nền xuyên suốt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245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dirty="0">
                <a:solidFill>
                  <a:srgbClr val="939EAD"/>
                </a:solidFill>
                <a:latin typeface="Segoe UI"/>
              </a:rPr>
              <a:t>Book1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viết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“3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nhóm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: Core Platform, Admin, Creator”,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nhưng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đó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là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3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nhóm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CHỨC NĂNG,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không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phải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3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loại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người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đăng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nhập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. Creator &amp; Admin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là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actor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thật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; Core Platform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là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nền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mọi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actor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tiêu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thụ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—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không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có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màn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39EAD"/>
                </a:solidFill>
                <a:latin typeface="Segoe UI"/>
              </a:rPr>
              <a:t>riêng</a:t>
            </a:r>
            <a:r>
              <a:rPr sz="1150" b="0" dirty="0">
                <a:solidFill>
                  <a:srgbClr val="939EAD"/>
                </a:solidFill>
                <a:latin typeface="Segoe UI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92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›  Nút đổi VN/PH + banner ngữ cảnh mọi màn (CP-02/03)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892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›  Tiền VND/PHP đúng định dạng + USD tham chiếu (CP-06)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7608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›  i18n vi/en (CP-05) · thuế synthetic theo nước (CP-08)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27608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›  RBAC 4 vai + cách ly dữ liệu theo nước (CP-01)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Ba quyết định nền móng (chốt N1)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6A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0B0F14"/>
                </a:solidFill>
                <a:latin typeface="Segoe UI"/>
              </a:rPr>
              <a:t>QĐ-1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Reward model 3 trục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3246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6AA6FF"/>
                </a:solidFill>
                <a:latin typeface="Segoe UI"/>
              </a:rPr>
              <a:t>① Trigger: CONTENT_APPROVED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6AA6FF"/>
                </a:solidFill>
                <a:latin typeface="Segoe UI"/>
              </a:rPr>
              <a:t>② Pricing: FLAT (cố định/content)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6AA6FF"/>
                </a:solidFill>
                <a:latin typeface="Segoe UI"/>
              </a:rPr>
              <a:t>③ Cap: SLOTS × ĐƠN_GIÁ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Điểm cấn của mentor ở trục ②: pay-per-view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tuyến tính không trần → vỡ ngân sách.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View được làm CỔNG (trục ①), tiền vẫn flat.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141732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53128" y="16002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0B0F14"/>
                </a:solidFill>
                <a:latin typeface="Segoe UI"/>
              </a:rPr>
              <a:t>QĐ-2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14884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KYC tại thời điểm Join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788920"/>
            <a:ext cx="3246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Xem campaign: thoải mái (giữ chân).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Bấm Join: chặn nếu KYC nước đó chưa Approved.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Vì sao: Join = phát sinh nghĩa vụ tài chính,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phải định danh người nhận tiền TRƯỚC.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Chặn ở rút tiền = quá muộn (đã làm content).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Chặn ở đăng ký = quá sớm (UX tệ).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41732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174736" y="16002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0B0F14"/>
                </a:solidFill>
                <a:latin typeface="Segoe UI"/>
              </a:rPr>
              <a:t>QĐ-3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214884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Ngân sách = suất × đơn giá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2788920"/>
            <a:ext cx="3246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Campaign có N suất, mỗi suất giá X.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Join thành công = giữ 1 suất.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Hết suất = “Đầy” (SUY RA, không lưu cờ).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Tổng trách nhiệm tài chính = N×X, biết trước.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Tránh mô hình quỹ trừ dần (race chạm đáy quỹ)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— không đáng độ phức tạp cho Phase 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NGHIỆP VỤ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Luồng lõi — con đường của một đồng tiền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Đăng nhập</a:t>
            </a:r>
          </a:p>
          <a:p>
            <a:pPr algn="ctr"/>
            <a:r>
              <a:rPr sz="900">
                <a:solidFill>
                  <a:srgbClr val="939EAD"/>
                </a:solidFill>
                <a:latin typeface="Segoe UI"/>
              </a:rPr>
              <a:t>SSO mock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62072" y="173736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Chọn nước</a:t>
            </a:r>
          </a:p>
          <a:p>
            <a:pPr algn="ctr"/>
            <a:r>
              <a:rPr sz="900">
                <a:solidFill>
                  <a:srgbClr val="939EAD"/>
                </a:solidFill>
                <a:latin typeface="Segoe UI"/>
              </a:rPr>
              <a:t>hồ sơ riêng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173736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KYC</a:t>
            </a:r>
          </a:p>
          <a:p>
            <a:pPr algn="ctr"/>
            <a:r>
              <a:rPr sz="900">
                <a:solidFill>
                  <a:srgbClr val="939EAD"/>
                </a:solidFill>
                <a:latin typeface="Segoe UI"/>
              </a:rPr>
              <a:t>Ops duyệt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6" y="173736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Join</a:t>
            </a:r>
          </a:p>
          <a:p>
            <a:pPr algn="ctr"/>
            <a:r>
              <a:rPr sz="900">
                <a:solidFill>
                  <a:srgbClr val="939EAD"/>
                </a:solidFill>
                <a:latin typeface="Segoe UI"/>
              </a:rPr>
              <a:t>snapshot + suất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8048" y="173736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Nộp content</a:t>
            </a:r>
          </a:p>
          <a:p>
            <a:pPr algn="ctr"/>
            <a:r>
              <a:rPr sz="900">
                <a:solidFill>
                  <a:srgbClr val="939EAD"/>
                </a:solidFill>
                <a:latin typeface="Segoe UI"/>
              </a:rPr>
              <a:t>link bài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06040" y="2098548"/>
            <a:ext cx="256032" cy="146304"/>
          </a:xfrm>
          <a:prstGeom prst="rightArrow">
            <a:avLst/>
          </a:prstGeom>
          <a:solidFill>
            <a:srgbClr val="939E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ight Arrow 11"/>
          <p:cNvSpPr/>
          <p:nvPr/>
        </p:nvSpPr>
        <p:spPr>
          <a:xfrm>
            <a:off x="4828032" y="2098548"/>
            <a:ext cx="256032" cy="146304"/>
          </a:xfrm>
          <a:prstGeom prst="rightArrow">
            <a:avLst/>
          </a:prstGeom>
          <a:solidFill>
            <a:srgbClr val="939E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7050024" y="2098548"/>
            <a:ext cx="256032" cy="146304"/>
          </a:xfrm>
          <a:prstGeom prst="rightArrow">
            <a:avLst/>
          </a:prstGeom>
          <a:solidFill>
            <a:srgbClr val="939E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9272016" y="2098548"/>
            <a:ext cx="256032" cy="146304"/>
          </a:xfrm>
          <a:prstGeom prst="rightArrow">
            <a:avLst/>
          </a:prstGeom>
          <a:solidFill>
            <a:srgbClr val="939E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463040" y="338328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Ops review</a:t>
            </a:r>
          </a:p>
          <a:p>
            <a:pPr algn="ctr"/>
            <a:r>
              <a:rPr sz="900">
                <a:solidFill>
                  <a:srgbClr val="939EAD"/>
                </a:solidFill>
                <a:latin typeface="Segoe UI"/>
              </a:rPr>
              <a:t>approve/reject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85032" y="338328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Earning</a:t>
            </a:r>
          </a:p>
          <a:p>
            <a:pPr algn="ctr"/>
            <a:r>
              <a:rPr sz="900">
                <a:solidFill>
                  <a:srgbClr val="939EAD"/>
                </a:solidFill>
                <a:latin typeface="Segoe UI"/>
              </a:rPr>
              <a:t>exactly-once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07024" y="338328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Đối soát</a:t>
            </a:r>
          </a:p>
          <a:p>
            <a:pPr algn="ctr"/>
            <a:r>
              <a:rPr sz="900">
                <a:solidFill>
                  <a:srgbClr val="939EAD"/>
                </a:solidFill>
                <a:latin typeface="Segoe UI"/>
              </a:rPr>
              <a:t>lock batch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338328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Payout</a:t>
            </a:r>
          </a:p>
          <a:p>
            <a:pPr algn="ctr"/>
            <a:r>
              <a:rPr sz="900">
                <a:solidFill>
                  <a:srgbClr val="939EAD"/>
                </a:solidFill>
                <a:latin typeface="Segoe UI"/>
              </a:rPr>
              <a:t>OTP · 3 kết cục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429000" y="3744468"/>
            <a:ext cx="256032" cy="146304"/>
          </a:xfrm>
          <a:prstGeom prst="rightArrow">
            <a:avLst/>
          </a:prstGeom>
          <a:solidFill>
            <a:srgbClr val="939E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ight Arrow 19"/>
          <p:cNvSpPr/>
          <p:nvPr/>
        </p:nvSpPr>
        <p:spPr>
          <a:xfrm>
            <a:off x="5650992" y="3744468"/>
            <a:ext cx="256032" cy="146304"/>
          </a:xfrm>
          <a:prstGeom prst="rightArrow">
            <a:avLst/>
          </a:prstGeom>
          <a:solidFill>
            <a:srgbClr val="939E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ight Arrow 20"/>
          <p:cNvSpPr/>
          <p:nvPr/>
        </p:nvSpPr>
        <p:spPr>
          <a:xfrm>
            <a:off x="7872984" y="3744468"/>
            <a:ext cx="256032" cy="146304"/>
          </a:xfrm>
          <a:prstGeom prst="rightArrow">
            <a:avLst/>
          </a:prstGeom>
          <a:solidFill>
            <a:srgbClr val="939E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11494008" y="2171700"/>
            <a:ext cx="137160" cy="0"/>
          </a:xfrm>
          <a:prstGeom prst="line">
            <a:avLst/>
          </a:prstGeom>
          <a:ln w="19050">
            <a:solidFill>
              <a:srgbClr val="939EA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631168" y="2171700"/>
            <a:ext cx="0" cy="1645920"/>
          </a:xfrm>
          <a:prstGeom prst="line">
            <a:avLst/>
          </a:prstGeom>
          <a:ln w="19050">
            <a:solidFill>
              <a:srgbClr val="939EA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463040" y="3817620"/>
            <a:ext cx="10168128" cy="0"/>
          </a:xfrm>
          <a:prstGeom prst="line">
            <a:avLst/>
          </a:prstGeom>
          <a:ln w="19050">
            <a:solidFill>
              <a:srgbClr val="939EA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4617720"/>
            <a:ext cx="11018520" cy="128016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47091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Payout 3 kết cục (bài toán khó #4 — Tuần C):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• Thành công → PAID.   • Lỗi xác nhận → hoàn tiền về balance ĐÚNG 1 LẦN.   • UNKNOWN/timeout → GIỮ tiền, chờ đối soát (release vội = nguy cơ double-pay nếu provider thật đã chuyển).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6199632"/>
            <a:ext cx="128016" cy="128016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615391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39EAD"/>
                </a:solidFill>
                <a:latin typeface="Segoe UI"/>
              </a:rPr>
              <a:t>Đã làm (N6–10b)</a:t>
            </a:r>
          </a:p>
        </p:txBody>
      </p:sp>
      <p:sp>
        <p:nvSpPr>
          <p:cNvPr id="30" name="Oval 29"/>
          <p:cNvSpPr/>
          <p:nvPr/>
        </p:nvSpPr>
        <p:spPr>
          <a:xfrm>
            <a:off x="2116836" y="6199632"/>
            <a:ext cx="128016" cy="128016"/>
          </a:xfrm>
          <a:prstGeom prst="ellipse">
            <a:avLst/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99716" y="615391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39EAD"/>
                </a:solidFill>
                <a:latin typeface="Segoe UI"/>
              </a:rPr>
              <a:t>Sắp làm (N11–15)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KIẾN TRÚC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Modular Monolith — vì sao không microservices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377440" cy="100584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6A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apps/web</a:t>
            </a:r>
          </a:p>
          <a:p>
            <a:pPr algn="ctr"/>
            <a:r>
              <a:rPr sz="1000">
                <a:solidFill>
                  <a:srgbClr val="939EAD"/>
                </a:solidFill>
                <a:latin typeface="Segoe UI"/>
              </a:rPr>
              <a:t>Next.js · route /vn /ph = Ý ĐỊNH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463040"/>
            <a:ext cx="5212080" cy="338328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6A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03320" y="1536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apps/api — NestJS (1 tiến trình)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192024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150" b="1">
                <a:solidFill>
                  <a:srgbClr val="E8EDF3"/>
                </a:solidFill>
                <a:latin typeface="Segoe UI"/>
              </a:rPr>
              <a:t>Core Platform</a:t>
            </a:r>
          </a:p>
          <a:p>
            <a:pPr algn="ctr"/>
            <a:r>
              <a:rPr sz="850">
                <a:solidFill>
                  <a:srgbClr val="939EAD"/>
                </a:solidFill>
                <a:latin typeface="Segoe UI"/>
              </a:rPr>
              <a:t>Auth+Session · Country · i18n · Money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46888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150" b="1">
                <a:solidFill>
                  <a:srgbClr val="E8EDF3"/>
                </a:solidFill>
                <a:latin typeface="Segoe UI"/>
              </a:rPr>
              <a:t>Onboarding — KYC</a:t>
            </a:r>
          </a:p>
          <a:p>
            <a:pPr algn="ctr"/>
            <a:r>
              <a:rPr sz="850">
                <a:solidFill>
                  <a:srgbClr val="939EAD"/>
                </a:solidFill>
                <a:latin typeface="Segoe UI"/>
              </a:rPr>
              <a:t>nộp ↔ duyệt theo field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301752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150" b="1">
                <a:solidFill>
                  <a:srgbClr val="E8EDF3"/>
                </a:solidFill>
                <a:latin typeface="Segoe UI"/>
              </a:rPr>
              <a:t>Campaign + Participation</a:t>
            </a:r>
          </a:p>
          <a:p>
            <a:pPr algn="ctr"/>
            <a:r>
              <a:rPr sz="850">
                <a:solidFill>
                  <a:srgbClr val="939EAD"/>
                </a:solidFill>
                <a:latin typeface="Segoe UI"/>
              </a:rPr>
              <a:t>join · snapshot · waitlist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356616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150" b="1">
                <a:solidFill>
                  <a:srgbClr val="E8EDF3"/>
                </a:solidFill>
                <a:latin typeface="Segoe UI"/>
              </a:rPr>
              <a:t>Money</a:t>
            </a:r>
          </a:p>
          <a:p>
            <a:pPr algn="ctr"/>
            <a:r>
              <a:rPr sz="850">
                <a:solidFill>
                  <a:srgbClr val="939EAD"/>
                </a:solidFill>
                <a:latin typeface="Segoe UI"/>
              </a:rPr>
              <a:t>Earning · Ledger · Reconcile · Payout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41148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6A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150" b="1">
                <a:solidFill>
                  <a:srgbClr val="E8EDF3"/>
                </a:solidFill>
                <a:latin typeface="Segoe UI"/>
              </a:rPr>
              <a:t>Audit + RBAC (cắt ngang)</a:t>
            </a:r>
          </a:p>
          <a:p>
            <a:pPr algn="ctr"/>
            <a:r>
              <a:rPr sz="850">
                <a:solidFill>
                  <a:srgbClr val="939EAD"/>
                </a:solidFill>
                <a:latin typeface="Segoe UI"/>
              </a:rPr>
              <a:t>mọi quyết định staff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210312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E8EDF3"/>
                </a:solidFill>
                <a:latin typeface="Segoe UI"/>
              </a:rPr>
              <a:t>Postgres</a:t>
            </a:r>
          </a:p>
          <a:p>
            <a:pPr algn="ctr"/>
            <a:r>
              <a:rPr sz="1000">
                <a:solidFill>
                  <a:srgbClr val="939EAD"/>
                </a:solidFill>
                <a:latin typeface="Segoe UI"/>
              </a:rPr>
              <a:t>1 database · 18 bảng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34290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939EAD"/>
                </a:solidFill>
                <a:latin typeface="Segoe UI"/>
              </a:rPr>
              <a:t>transaction = biên giới
đúng–sai của tiền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63240" y="1965960"/>
            <a:ext cx="457200" cy="146304"/>
          </a:xfrm>
          <a:prstGeom prst="rightArrow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ight Arrow 16"/>
          <p:cNvSpPr/>
          <p:nvPr/>
        </p:nvSpPr>
        <p:spPr>
          <a:xfrm>
            <a:off x="8823960" y="2606040"/>
            <a:ext cx="411480" cy="146304"/>
          </a:xfrm>
          <a:prstGeom prst="rightArrow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1018520" cy="105156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120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Đường đi của lòng tin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4406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Server KHÔNG BAO GIỜ tin danh tính/vai/quốc gia từ client. Danh tính &amp; vai lấy từ session trong DB; route /vn /ph chỉ là ý định — quyền thao tác do role_assignments của phiên quyết định. Ops VN đổi URL sang PH vẫn không đọc được dữ liệu PH (query luôn scope theo country của phiên).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Schema lean 18 bảng — suy ra từ 12 màn mockup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6A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6AA6FF"/>
                </a:solidFill>
                <a:latin typeface="Segoe UI"/>
              </a:rPr>
              <a:t>A · Danh tính &amp; nền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users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9202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sessions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countries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2311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country_configs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role_assignments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46304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34840" y="15544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46C46A"/>
                </a:solidFill>
                <a:latin typeface="Segoe UI"/>
              </a:rPr>
              <a:t>B · Onboarding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9202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creator_country_profiles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9202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kyc_cases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311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kyc_fields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46304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3880" y="15544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0C674"/>
                </a:solidFill>
                <a:latin typeface="Segoe UI"/>
              </a:rPr>
              <a:t>C · Campaign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9202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campaigns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19202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reward_rules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311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participations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77639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4069079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9B8CFF"/>
                </a:solidFill>
                <a:latin typeface="Segoe UI"/>
              </a:rPr>
              <a:t>D · Content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34839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submissions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977639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E86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34840" y="4069079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E8697A"/>
                </a:solidFill>
                <a:latin typeface="Segoe UI"/>
              </a:rPr>
              <a:t>E · Tiền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434839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earnings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434839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ledger_entries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745735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reconciliation_batches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745735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reconciliation_lines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05663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payout_requests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05663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payout_attempts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3977639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939E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83880" y="4069079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939EAD"/>
                </a:solidFill>
                <a:latin typeface="Segoe UI"/>
              </a:rPr>
              <a:t>F · Cắt ngang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434839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otp_codes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4434839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• audit_events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Khóa unique = bằng chứng chống bug: earning.submission_id (exactly-once) · participation(profile,campaign) (join idempotent) · payout_attempt.provider_ref (chống double-pay) · ledger_entry append-only.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LỘ TRÌNH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Timeline 4 tuần · 20 ngày làm việc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468880" cy="1060704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5910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6C46A"/>
                </a:solidFill>
                <a:latin typeface="Segoe UI"/>
              </a:rPr>
              <a:t>TUẦN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39EAD"/>
                </a:solidFill>
                <a:latin typeface="Segoe UI"/>
              </a:rPr>
              <a:t>N1–N5 · Product + Database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6771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0B0F14"/>
                </a:solidFill>
                <a:latin typeface="Segoe UI"/>
              </a:rPr>
              <a:t>XONG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1463040"/>
            <a:ext cx="8503920" cy="1060704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15727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✓ N1 Chốt Product (3 QĐ)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5727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✓ N2 Mockup Creator 8 màn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5727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✓ N3 Mockup Staff 4 màn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95681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✓ N4 ERD 18 bảng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5681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✓ N5 Schema thật + seed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633472"/>
            <a:ext cx="2468880" cy="1060704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276148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6C46A"/>
                </a:solidFill>
                <a:latin typeface="Segoe UI"/>
              </a:rPr>
              <a:t>TUẦN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3639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39EAD"/>
                </a:solidFill>
                <a:latin typeface="Segoe UI"/>
              </a:rPr>
              <a:t>N6–N10b · Core spine + Join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43814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0B0F14"/>
                </a:solidFill>
                <a:latin typeface="Segoe UI"/>
              </a:rPr>
              <a:t>XONG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2633472"/>
            <a:ext cx="8503920" cy="1060704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9184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✓ N6 Kiến trúc + Auth/session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✓ N7 Country context + i18n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✓ N8 KYC theo field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1272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✓ N9 Campaign + discover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1272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8EDF3"/>
                </a:solidFill>
                <a:latin typeface="Segoe UI"/>
              </a:rPr>
              <a:t>✓ N10+b Join · waitlist · thu hồi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803904"/>
            <a:ext cx="2468880" cy="1060704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39319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0C674"/>
                </a:solidFill>
                <a:latin typeface="Segoe UI"/>
              </a:rPr>
              <a:t>TUẦN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06824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39EAD"/>
                </a:solidFill>
                <a:latin typeface="Segoe UI"/>
              </a:rPr>
              <a:t>N11–N15 · Money spine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60857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0B0F14"/>
                </a:solidFill>
                <a:latin typeface="Segoe UI"/>
              </a:rPr>
              <a:t>KẾ TIẾP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54680" y="3803904"/>
            <a:ext cx="8503920" cy="1060704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91840" y="39136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○ N11 Content→Earning exactly-once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9136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○ N12 Ledger append-only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9136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○ N13 Đối soát lock batch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○ N14 Payout + OTP + reserve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○ N15 UNKNOWN + đảo + E2E tiền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974336"/>
            <a:ext cx="2468880" cy="1060704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510235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0C674"/>
                </a:solidFill>
                <a:latin typeface="Segoe UI"/>
              </a:rPr>
              <a:t>TUẦN 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477256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39EAD"/>
                </a:solidFill>
                <a:latin typeface="Segoe UI"/>
              </a:rPr>
              <a:t>N16–N20 · Triển khai + Defense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577900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0B0F14"/>
                </a:solidFill>
                <a:latin typeface="Segoe UI"/>
              </a:rPr>
              <a:t>KẾ TIẾP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54680" y="4974336"/>
            <a:ext cx="8503920" cy="1060704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91840" y="508406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○ N16 i18n + USD + responsive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508406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○ N17 Audit + RBAC + negative test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0" y="508406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○ N18 Seed + README + docker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91840" y="54681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○ N19 HARD_PROBLEMS Q&amp;A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54681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39EAD"/>
                </a:solidFill>
                <a:latin typeface="Segoe UI"/>
              </a:rPr>
              <a:t>○ N20 Buffer + tổng duyệt demo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ĐIỂM NGHẼN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7 bài toán khó — vũ khí cho buổi hỏi đáp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40680" cy="841248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85800" y="1636776"/>
            <a:ext cx="402336" cy="402336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0F14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Cách ly dữ liệu theo nước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810512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0">
                <a:solidFill>
                  <a:srgbClr val="939EAD"/>
                </a:solidFill>
                <a:latin typeface="Segoe UI"/>
              </a:rPr>
              <a:t>Không tin country_id từ client; query scope theo phiên. Ops VN mở KYC PH → 404.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841248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309360" y="1636776"/>
            <a:ext cx="402336" cy="402336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0F14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0568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Tiền không dùng float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0568" y="1810512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0">
                <a:solidFill>
                  <a:srgbClr val="939EAD"/>
                </a:solidFill>
                <a:latin typeface="Segoe UI"/>
              </a:rPr>
              <a:t>Minor units BIGINT + currency; VND exp 0, PHP exp 2. Sai 1 xu × vạn GD = mất niềm tin.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50008"/>
            <a:ext cx="5440680" cy="841248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85800" y="2569464"/>
            <a:ext cx="402336" cy="402336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0F14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44144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Concurrency tranh suất cuối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743200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0">
                <a:solidFill>
                  <a:srgbClr val="939EAD"/>
                </a:solidFill>
                <a:latin typeface="Segoe UI"/>
              </a:rPr>
              <a:t>SELECT … FOR UPDATE serial-hóa join; đếm trong khóa; UNIQUE chống nhân đôi. Không oversell.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350008"/>
            <a:ext cx="5440680" cy="841248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309360" y="2569464"/>
            <a:ext cx="402336" cy="402336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0F14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0568" y="244144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Ôm suất — thu hồi khi 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2743200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0">
                <a:solidFill>
                  <a:srgbClr val="939EAD"/>
                </a:solidFill>
                <a:latin typeface="Segoe UI"/>
              </a:rPr>
              <a:t>Worker quét quá-hạn → EXPIRED + strike; chỉ thu hồi khi bóng ở chân creator.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282696"/>
            <a:ext cx="5440680" cy="841248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85800" y="3502152"/>
            <a:ext cx="402336" cy="402336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0F14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37413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Snapshot điều khoản lúc Join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8" y="3675888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0">
                <a:solidFill>
                  <a:srgbClr val="939EAD"/>
                </a:solidFill>
                <a:latin typeface="Segoe UI"/>
              </a:rPr>
              <a:t>Copy terms vào participation; admin đổi giá sau không ảnh hưởng earning cũ.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282696"/>
            <a:ext cx="5440680" cy="841248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309360" y="3502152"/>
            <a:ext cx="402336" cy="402336"/>
          </a:xfrm>
          <a:prstGeom prst="ellipse">
            <a:avLst/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0F14"/>
                </a:solidFill>
                <a:latin typeface="Segoe U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37413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Ledger append-only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675888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0">
                <a:solidFill>
                  <a:srgbClr val="939EAD"/>
                </a:solidFill>
                <a:latin typeface="Segoe UI"/>
              </a:rPr>
              <a:t>Không UPDATE/DELETE bản ghi tiền; sửa sai = bút toán đảo có link gốc. Luôn audit được.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4215384"/>
            <a:ext cx="5440680" cy="841248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474720" y="4434840"/>
            <a:ext cx="402336" cy="402336"/>
          </a:xfrm>
          <a:prstGeom prst="ellipse">
            <a:avLst/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0F14"/>
                </a:solidFill>
                <a:latin typeface="Segoe U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95928" y="4306824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Exactly-once earning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95928" y="4608576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0">
                <a:solidFill>
                  <a:srgbClr val="939EAD"/>
                </a:solidFill>
                <a:latin typeface="Segoe UI"/>
              </a:rPr>
              <a:t>Ops double-click Approve không tạo 2 earning: UNIQUE(submission_id) + transaction.</a:t>
            </a:r>
          </a:p>
        </p:txBody>
      </p:sp>
      <p:sp>
        <p:nvSpPr>
          <p:cNvPr id="34" name="Oval 33"/>
          <p:cNvSpPr/>
          <p:nvPr/>
        </p:nvSpPr>
        <p:spPr>
          <a:xfrm>
            <a:off x="8595360" y="594360"/>
            <a:ext cx="128016" cy="128016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778240" y="548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39EAD"/>
                </a:solidFill>
                <a:latin typeface="Segoe UI"/>
              </a:rPr>
              <a:t>Đã giải</a:t>
            </a:r>
          </a:p>
        </p:txBody>
      </p:sp>
      <p:sp>
        <p:nvSpPr>
          <p:cNvPr id="36" name="Oval 35"/>
          <p:cNvSpPr/>
          <p:nvPr/>
        </p:nvSpPr>
        <p:spPr>
          <a:xfrm>
            <a:off x="9523476" y="594360"/>
            <a:ext cx="128016" cy="128016"/>
          </a:xfrm>
          <a:prstGeom prst="ellipse">
            <a:avLst/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706356" y="548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39EAD"/>
                </a:solidFill>
                <a:latin typeface="Segoe UI"/>
              </a:rPr>
              <a:t>Tuần 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ĐIỂM NGHẼN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Tranh suất cuối (concurrency) → không oversell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58400" y="45720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0B0F14"/>
                </a:solidFill>
                <a:latin typeface="Segoe UI"/>
              </a:rPr>
              <a:t>Đã giải 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E86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697A"/>
                </a:solidFill>
                <a:latin typeface="Segoe UI"/>
              </a:rPr>
              <a:t>Vấn đề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5166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≥2 creator cùng bấm Join suất cuối. Làm ngây thơ (đọc slotsLeft → ghi) → cả hai thấy “còn 1” → oversell: 2 người giữ 1 suất, ngân sách vỡ. Không thể ngăn 2 cú click đồng thời — chỉ phân xử đúng tại điểm commit.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0332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794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46C46A"/>
                </a:solidFill>
                <a:latin typeface="Segoe UI"/>
              </a:rPr>
              <a:t>Giải pháp — khóa hàng campaign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6052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Consolas"/>
              </a:rPr>
              <a:t>1. $transaction + SELECT campaign … FOR UPDATE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Consolas"/>
              </a:rPr>
              <a:t>   → creator thứ 2 xếp hàng chờ khóa.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Consolas"/>
              </a:rPr>
              <a:t>2. Trong khóa: đếm suất còn hiệu lực.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Consolas"/>
              </a:rPr>
              <a:t>3. Còn ≥1 → JOINED + snapshot → commit → nhả khóa.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Consolas"/>
              </a:rPr>
              <a:t>4. Người sau đọc lại = 0 → vào hàng chờ.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Consolas"/>
              </a:rPr>
              <a:t>+ UNIQUE(profile,campaign) → idempotent.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417320"/>
            <a:ext cx="5394960" cy="45720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6A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Bằng chứng: test tự động RACE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39EAD"/>
                </a:solidFill>
                <a:latin typeface="Segoe UI"/>
              </a:rPr>
              <a:t>3 creator bắn request Join CÙNG LÚC vào campaign chỉ 1 suất:</a:t>
            </a:r>
          </a:p>
        </p:txBody>
      </p:sp>
      <p:sp>
        <p:nvSpPr>
          <p:cNvPr id="16" name="Oval 15"/>
          <p:cNvSpPr/>
          <p:nvPr/>
        </p:nvSpPr>
        <p:spPr>
          <a:xfrm>
            <a:off x="6492240" y="2560320"/>
            <a:ext cx="146304" cy="146304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25146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E8EDF3"/>
                </a:solidFill>
                <a:latin typeface="Segoe UI"/>
              </a:rPr>
              <a:t>Đúng 1 JOINED (thắng)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3017520"/>
            <a:ext cx="146304" cy="146304"/>
          </a:xfrm>
          <a:prstGeom prst="ellipse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29718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E8EDF3"/>
                </a:solidFill>
                <a:latin typeface="Segoe UI"/>
              </a:rPr>
              <a:t>2 WAITLISTED — vị trí #1, #2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474720"/>
            <a:ext cx="146304" cy="146304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34290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E8EDF3"/>
                </a:solidFill>
                <a:latin typeface="Segoe UI"/>
              </a:rPr>
              <a:t>slotsLeft = 0 (không oversell)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931920"/>
            <a:ext cx="146304" cy="146304"/>
          </a:xfrm>
          <a:prstGeom prst="ellipse">
            <a:avLst/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38862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E8EDF3"/>
                </a:solidFill>
                <a:latin typeface="Segoe UI"/>
              </a:rPr>
              <a:t>Người thua KHÔNG bị strike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4526280"/>
            <a:ext cx="4937760" cy="1280160"/>
          </a:xfrm>
          <a:prstGeom prst="roundRect">
            <a:avLst>
              <a:gd name="adj" fmla="val 8000"/>
            </a:avLst>
          </a:prstGeom>
          <a:solidFill>
            <a:srgbClr val="0B0F1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400" y="46177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46C46A"/>
                </a:solidFill>
                <a:latin typeface="Consolas"/>
              </a:rPr>
              <a:t>RACE: 3 creators join last slot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8EDF3"/>
                </a:solidFill>
                <a:latin typeface="Consolas"/>
              </a:rPr>
              <a:t>→ exactly 1 wins, 2 WAITLISTED  ✓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939EAD"/>
                </a:solidFill>
                <a:latin typeface="Consolas"/>
              </a:rPr>
              <a:t>FCFS = thứ tự giành khóa ở DB ≈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939EAD"/>
                </a:solidFill>
                <a:latin typeface="Consolas"/>
              </a:rPr>
              <a:t>thứ tự request. Dễ giải thích.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ĐIỂM NGHẼN #4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Ôm suất — thu hồi + hàng chờ tự đôn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58400" y="45720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0B0F14"/>
                </a:solidFill>
                <a:latin typeface="Segoe UI"/>
              </a:rPr>
              <a:t>Đã giải 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E86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697A"/>
                </a:solidFill>
                <a:latin typeface="Segoe UI"/>
              </a:rPr>
              <a:t>Vấn đề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Suất là tài nguyên khan hiếm có ngân sách + thời gian sau lưng (QĐ-3). Creator join giữ suất nhưng không đăng bài → vốn chết + chặn người khác. Nhưng không được phạt oan khi creator ĐANG CHỜ Ops duyệt.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49039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8404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46C46A"/>
                </a:solidFill>
                <a:latin typeface="Segoe UI"/>
              </a:rPr>
              <a:t>Giải pháp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Đồng hồ CHỈ chạy khi bóng ở chân creator: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JOINED quá hạn nộp / REJECTED quá hạn sửa → thu hồi.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CONTENT_SUBMITTED / APPROVED → MIỄN NHIỄM.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Worker quét nền → EXPIRED + strike + trả suất.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Hết suất → WAITLISTED (FCFS); có suất trả →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tự đôn người đầu hàng chờ + snapshot lúc đôn.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577840" cy="4023360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06-my-campaig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37360"/>
            <a:ext cx="5486400" cy="3931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6035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939EAD"/>
                </a:solidFill>
                <a:latin typeface="Segoe UI"/>
              </a:rPr>
              <a:t>Màn “Chiến dịch của tôi” — hạn nộp, vị trí hàng chờ, lý do thu hồi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MINH HỌA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Prototype — luồng Creator (đã nối API thật)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58400" y="45720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0B0F14"/>
                </a:solidFill>
                <a:latin typeface="Segoe UI"/>
              </a:rPr>
              <a:t>Done 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9671" y="1371600"/>
            <a:ext cx="2872917" cy="2084832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391" y="1417320"/>
            <a:ext cx="2781477" cy="1993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2900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V01 · Đăng nhập SSO mock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44651" y="1371600"/>
            <a:ext cx="2872917" cy="2084832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02-coun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371" y="1417320"/>
            <a:ext cx="2781477" cy="19933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3620" y="342900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V02 · Chọn nước, ngữ cảnh từ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89671" y="3749040"/>
            <a:ext cx="2872917" cy="2084832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03-ky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5391" y="3794760"/>
            <a:ext cx="2781477" cy="19933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80644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V03 · KYC — Approved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871" y="3749040"/>
            <a:ext cx="616477" cy="2084832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04-disco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8591" y="3794760"/>
            <a:ext cx="525037" cy="19933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620" y="580644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V04 · Khám phá campaign theo nước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MINH HỌA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Prototype — Join, hàng chờ &amp; vận hành Staff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58400" y="45720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0B0F14"/>
                </a:solidFill>
                <a:latin typeface="Segoe UI"/>
              </a:rPr>
              <a:t>Done 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9671" y="1371600"/>
            <a:ext cx="2872917" cy="2084832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5-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391" y="1417320"/>
            <a:ext cx="2781477" cy="1993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2900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V05 · Chi tiết + Join (snapshot)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9309" y="1371600"/>
            <a:ext cx="1403601" cy="2084832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10-ops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5029" y="1417320"/>
            <a:ext cx="1312161" cy="19933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3620" y="342900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V10 · Ops duyệt KYC theo field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80155" y="3749040"/>
            <a:ext cx="1491949" cy="2084831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11-admin-buil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875" y="3794760"/>
            <a:ext cx="1400509" cy="19933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80644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V11 · Admin tạo campaign (3 trục)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335" y="3749040"/>
            <a:ext cx="1759550" cy="2084832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00-ind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7055" y="3794760"/>
            <a:ext cx="1668110" cy="19933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620" y="580644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Bản đồ 12 màn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SẮP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Màn thuộc Tuần C–D (UI mockup, CHƯA nối dữ liệu)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58400" y="45720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0B0F14"/>
                </a:solidFill>
                <a:latin typeface="Segoe UI"/>
              </a:rPr>
              <a:t>N11–N20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15087" y="1371600"/>
            <a:ext cx="2022086" cy="2084832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7-ear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807" y="1417320"/>
            <a:ext cx="1930646" cy="1993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2900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V07 · Thu nhập (Gross–Thuế–Net)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44651" y="1371600"/>
            <a:ext cx="2872917" cy="2084832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08-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371" y="1417320"/>
            <a:ext cx="2781477" cy="19933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3620" y="342900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V08 · Ví &amp; rút tiền + OTP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89671" y="3749040"/>
            <a:ext cx="2872917" cy="2084832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12-fin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5391" y="3794760"/>
            <a:ext cx="2781477" cy="19933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80644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V12 · Bàn đối soát Finance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4651" y="3749040"/>
            <a:ext cx="2872917" cy="2084832"/>
          </a:xfrm>
          <a:prstGeom prst="roundRect">
            <a:avLst>
              <a:gd name="adj" fmla="val 3000"/>
            </a:avLst>
          </a:prstGeom>
          <a:solidFill>
            <a:srgbClr val="141B2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09-conf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0371" y="3794760"/>
            <a:ext cx="2781477" cy="19933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620" y="5806440"/>
            <a:ext cx="55549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8EDF3"/>
                </a:solidFill>
                <a:latin typeface="Segoe UI"/>
              </a:rPr>
              <a:t>V09 · Cấu hình quốc gia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Đã làm được (N1 – N10b)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58400" y="45720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6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0B0F14"/>
                </a:solidFill>
                <a:latin typeface="Segoe UI"/>
              </a:rPr>
              <a:t>Tuần A+B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611880" cy="438912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Product &amp; 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✓  3 quyết định sản phẩm (reward 3 trục, KYC-at-Join, budget=suất×giá)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✓  Mockup 12 màn clickable làm nguồn thiết kế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✓  ERD lean 18 bảng + schema Prisma thật + seed VN/PH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463040"/>
            <a:ext cx="3611880" cy="438912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53128" y="160020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Core spine (chạy thật)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14884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✓  Auth mock SSO + phiên lưu DB (thu hồi tức thì)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20040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✓  Country context end-to-end + i18n vi/en + format tiền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425196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✓  KYC nộp ↔ Ops duyệt theo field + RBAC + cách ly nước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1463040"/>
            <a:ext cx="3611880" cy="438912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46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74736" y="160020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Campaign &amp; Join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14884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✓  Discover/detail lọc theo nước · builder 3 trục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20040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✓  Join race-safe (FOR UPDATE) + snapshot + cổng KYC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425196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E8EDF3"/>
                </a:solidFill>
                <a:latin typeface="Segoe UI"/>
              </a:rPr>
              <a:t>✓  Waitlist FCFS + tự đôn + worker thu hồi + gợi ý campaign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39EAD"/>
                </a:solidFill>
                <a:latin typeface="Segoe UI"/>
              </a:rPr>
              <a:t>5 trong 7 bài toán khó đã giải chạy thật (cách ly · tiền minor units · concurrency · thu hồi suất · snapshot). API 44/44 · E2E 12/12.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KẾ HOẠCH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Sẽ làm (N11 – N20)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58400" y="45720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F0C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0B0F14"/>
                </a:solidFill>
                <a:latin typeface="Segoe UI"/>
              </a:rPr>
              <a:t>Tuần C+D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Segoe UI"/>
              </a:rPr>
              <a:t>Tuần C · Money spine (N11–15)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○  Nộp content → review → Earning exactly-once (UNIQUE + transaction)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44368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○  Ledger append-only + dashboard Gross–Thuế–Net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94176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○  Đối soát: Finance tạo batch → lock → tiền thành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43984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○  Payout: reserve + OTP mock → provider success/fail/UNKNOWN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193792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○  Bút toán đảo refund + chạy E2E cả spine tiền trên VN + 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6304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6A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55080" y="1600200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Segoe UI"/>
              </a:rPr>
              <a:t>Tuần D · Triển khai + Defense (N16–20)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194560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○  i18n hoàn thiện + USD tham chiếu + responsive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944368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○  Audit log + enforce 4 vai + negative tests (cross-country, sai role)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94176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○  Seed demo đầy đủ + README máy sạch + docker compose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443984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○  HARD_PROBLEMS.md thành bộ Q&amp;A + kịch bản demo 15 phút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193792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EDF3"/>
                </a:solidFill>
                <a:latin typeface="Segoe UI"/>
              </a:rPr>
              <a:t>○  Buffer + tổng duyệt + regression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AA6FF"/>
                </a:solidFill>
                <a:latin typeface="Segoe UI"/>
              </a:rPr>
              <a:t>LƯU 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Mock có công bố · phạm vi cắt · nợ kỹ thuật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822960" cy="38100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6A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6AA6FF"/>
                </a:solidFill>
                <a:latin typeface="Segoe UI"/>
              </a:rPr>
              <a:t>Mock CÓ công bố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SSO “Login Google” giả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98648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eKYC = Ops duyệt tay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57016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OTP = mã cố định màn dev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15384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Cổng thanh toán giả (success/fail/unknown)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73752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Tỷ giá bảng tĩnh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F0C6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53128" y="1627632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F0C674"/>
                </a:solidFill>
                <a:latin typeface="Segoe UI"/>
              </a:rPr>
              <a:t>Cắt có lý do (P2/P3)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Brand portal (Phase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2898648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API/webhook công khai (Phase 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3557016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CPS/đơn hàng (cần attribution)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4215384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Push notification · social linking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4873752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Báo cáo nâng cao · thuế pháp lý thật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1856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41B24"/>
          </a:solidFill>
          <a:ln w="12700">
            <a:solidFill>
              <a:srgbClr val="E86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74736" y="1627632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E8697A"/>
                </a:solidFill>
                <a:latin typeface="Segoe UI"/>
              </a:rPr>
              <a:t>Cần lưu ý khi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Cần Docker Postgres bật (cổng 54329)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2898648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Đừng build web khi dev đang chạy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3557016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N10b chưa commit — commit trước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4215384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Scheduler thu hồi tắt mặc định (bật RECLAIM_SWEEP_MS)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4873752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EDF3"/>
                </a:solidFill>
                <a:latin typeface="Segoe UI"/>
              </a:rPr>
              <a:t>•  Money spine chưa có → chưa demo được rút tiền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7432"/>
          </a:xfrm>
          <a:prstGeom prst="rect">
            <a:avLst/>
          </a:prstGeom>
          <a:solidFill>
            <a:srgbClr val="6A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A6FF"/>
                </a:solidFill>
                <a:latin typeface="Segoe UI"/>
              </a:rPr>
              <a:t>KẾT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Nền móng đã vững: 1 luồng dọc chạy thật E2E trên 2 quốc gia,</a:t>
            </a:r>
          </a:p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5/7 bài toán khó đã giải và chứng minh bằng 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939EAD"/>
                </a:solidFill>
                <a:latin typeface="Segoe UI"/>
              </a:rPr>
              <a:t>Tuần C–D: hoàn thiện money spine (nơi transaction làm việc nặng nhất) rồi đóng gói demo + bộ Q&amp;A.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DF3"/>
                </a:solidFill>
                <a:latin typeface="Consolas"/>
              </a:rPr>
              <a:t>Chạy demo:  docker compose up -d  ·  pnpm dev  ·  mở /mockup  ·  test:  pnpm test (API) + playwright (E2E)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9EAD"/>
                </a:solidFill>
                <a:latin typeface="Segoe UI"/>
              </a:rPr>
              <a:t>Affiliate GLOBAL · Prototype Review · 19/07/2026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939EAD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2708</Words>
  <Application>Microsoft Office PowerPoint</Application>
  <PresentationFormat>Widescreen</PresentationFormat>
  <Paragraphs>364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Lê Văn Quang</cp:lastModifiedBy>
  <cp:revision>2</cp:revision>
  <dcterms:created xsi:type="dcterms:W3CDTF">2013-01-27T09:14:16Z</dcterms:created>
  <dcterms:modified xsi:type="dcterms:W3CDTF">2026-07-19T15:17:20Z</dcterms:modified>
  <cp:category/>
</cp:coreProperties>
</file>