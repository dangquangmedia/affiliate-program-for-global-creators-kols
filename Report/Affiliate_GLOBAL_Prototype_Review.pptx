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53"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011680" y="-2377440"/>
            <a:ext cx="6400800" cy="5486400"/>
          </a:xfrm>
          <a:prstGeom prst="ellipse">
            <a:avLst/>
          </a:prstGeom>
          <a:solidFill>
            <a:srgbClr val="6E7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0" y="3657600"/>
            <a:ext cx="5486400" cy="4572000"/>
          </a:xfrm>
          <a:prstGeom prst="ellipse">
            <a:avLst/>
          </a:prstGeom>
          <a:solidFill>
            <a:srgbClr val="F6B44C">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548640"/>
            <a:ext cx="566928" cy="566928"/>
          </a:xfrm>
          <a:prstGeom prst="roundRect">
            <a:avLst>
              <a:gd name="adj" fmla="val 28000"/>
            </a:avLst>
          </a:prstGeom>
          <a:gradFill rotWithShape="1">
            <a:gsLst>
              <a:gs pos="0">
                <a:srgbClr val="6E7BFF"/>
              </a:gs>
              <a:gs pos="100000">
                <a:srgbClr val="22D3EE"/>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A0E17"/>
                </a:solidFill>
                <a:latin typeface="Segoe UI"/>
              </a:rPr>
              <a:t>AG</a:t>
            </a:r>
          </a:p>
        </p:txBody>
      </p:sp>
      <p:sp>
        <p:nvSpPr>
          <p:cNvPr id="6" name="TextBox 5"/>
          <p:cNvSpPr txBox="1"/>
          <p:nvPr/>
        </p:nvSpPr>
        <p:spPr>
          <a:xfrm>
            <a:off x="1225296" y="566928"/>
            <a:ext cx="5486400" cy="566928"/>
          </a:xfrm>
          <a:prstGeom prst="rect">
            <a:avLst/>
          </a:prstGeom>
          <a:noFill/>
        </p:spPr>
        <p:txBody>
          <a:bodyPr wrap="square" lIns="0" tIns="0" rIns="0" bIns="0" anchor="ctr">
            <a:spAutoFit/>
          </a:bodyPr>
          <a:lstStyle/>
          <a:p>
            <a:pPr algn="l">
              <a:lnSpc>
                <a:spcPct val="100000"/>
              </a:lnSpc>
              <a:spcBef>
                <a:spcPts val="0"/>
              </a:spcBef>
              <a:spcAft>
                <a:spcPts val="0"/>
              </a:spcAft>
            </a:pPr>
            <a:r>
              <a:rPr sz="1500" b="1" i="0">
                <a:solidFill>
                  <a:srgbClr val="EDF1F8"/>
                </a:solidFill>
                <a:latin typeface="Segoe UI"/>
              </a:rPr>
              <a:t>Affiliate GLOBAL</a:t>
            </a:r>
          </a:p>
          <a:p>
            <a:pPr algn="l">
              <a:lnSpc>
                <a:spcPct val="100000"/>
              </a:lnSpc>
              <a:spcBef>
                <a:spcPts val="0"/>
              </a:spcBef>
              <a:spcAft>
                <a:spcPts val="0"/>
              </a:spcAft>
            </a:pPr>
            <a:r>
              <a:rPr sz="950" b="1" i="0">
                <a:solidFill>
                  <a:srgbClr val="93A1B8"/>
                </a:solidFill>
                <a:latin typeface="Segoe UI"/>
              </a:rPr>
              <a:t>CONTROL CENTER</a:t>
            </a:r>
          </a:p>
        </p:txBody>
      </p:sp>
      <p:sp>
        <p:nvSpPr>
          <p:cNvPr id="7" name="TextBox 6"/>
          <p:cNvSpPr txBox="1"/>
          <p:nvPr/>
        </p:nvSpPr>
        <p:spPr>
          <a:xfrm>
            <a:off x="566928" y="1874519"/>
            <a:ext cx="6766560" cy="36576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22D3EE"/>
                </a:solidFill>
                <a:latin typeface="Segoe UI"/>
              </a:rPr>
              <a:t>NỀN TẢNG AFFILIATE ĐA QUỐC GIA  ·  PHASE 1: VN + PH</a:t>
            </a:r>
          </a:p>
        </p:txBody>
      </p:sp>
      <p:sp>
        <p:nvSpPr>
          <p:cNvPr id="8" name="TextBox 7"/>
          <p:cNvSpPr txBox="1"/>
          <p:nvPr/>
        </p:nvSpPr>
        <p:spPr>
          <a:xfrm>
            <a:off x="566928" y="2286000"/>
            <a:ext cx="6766560" cy="1737360"/>
          </a:xfrm>
          <a:prstGeom prst="rect">
            <a:avLst/>
          </a:prstGeom>
          <a:noFill/>
        </p:spPr>
        <p:txBody>
          <a:bodyPr wrap="square" lIns="0" tIns="0" rIns="0" bIns="0" anchor="t">
            <a:spAutoFit/>
          </a:bodyPr>
          <a:lstStyle/>
          <a:p>
            <a:pPr algn="l">
              <a:lnSpc>
                <a:spcPct val="102000"/>
              </a:lnSpc>
              <a:spcBef>
                <a:spcPts val="0"/>
              </a:spcBef>
              <a:spcAft>
                <a:spcPts val="0"/>
              </a:spcAft>
            </a:pPr>
            <a:r>
              <a:rPr sz="4000" b="1" i="0">
                <a:solidFill>
                  <a:srgbClr val="EDF1F8"/>
                </a:solidFill>
                <a:latin typeface="Segoe UI Light"/>
              </a:rPr>
              <a:t>Một nền tảng affiliate,</a:t>
            </a:r>
          </a:p>
          <a:p>
            <a:pPr algn="l">
              <a:lnSpc>
                <a:spcPct val="102000"/>
              </a:lnSpc>
              <a:spcBef>
                <a:spcPts val="0"/>
              </a:spcBef>
              <a:spcAft>
                <a:spcPts val="0"/>
              </a:spcAft>
            </a:pPr>
            <a:r>
              <a:rPr sz="4000" b="1" i="0">
                <a:solidFill>
                  <a:srgbClr val="EDF1F8"/>
                </a:solidFill>
                <a:latin typeface="Segoe UI Light"/>
              </a:rPr>
              <a:t>hai thị trường không trộn lẫn.</a:t>
            </a:r>
          </a:p>
        </p:txBody>
      </p:sp>
      <p:sp>
        <p:nvSpPr>
          <p:cNvPr id="9" name="TextBox 8"/>
          <p:cNvSpPr txBox="1"/>
          <p:nvPr/>
        </p:nvSpPr>
        <p:spPr>
          <a:xfrm>
            <a:off x="566928" y="3913632"/>
            <a:ext cx="6309360" cy="1097280"/>
          </a:xfrm>
          <a:prstGeom prst="rect">
            <a:avLst/>
          </a:prstGeom>
          <a:noFill/>
        </p:spPr>
        <p:txBody>
          <a:bodyPr wrap="square" lIns="0" tIns="0" rIns="0" bIns="0" anchor="t">
            <a:spAutoFit/>
          </a:bodyPr>
          <a:lstStyle/>
          <a:p>
            <a:pPr algn="l">
              <a:lnSpc>
                <a:spcPct val="128000"/>
              </a:lnSpc>
              <a:spcBef>
                <a:spcPts val="0"/>
              </a:spcBef>
              <a:spcAft>
                <a:spcPts val="200"/>
              </a:spcAft>
            </a:pPr>
            <a:r>
              <a:rPr sz="1300" b="0" i="0">
                <a:solidFill>
                  <a:srgbClr val="93A1B8"/>
                </a:solidFill>
                <a:latin typeface="Segoe UI"/>
              </a:rPr>
              <a:t>Việt Nam và Philippines chạy chung một hệ thống, nhưng dữ liệu, tiền tệ, thuế và mức rút không bao giờ trộn lẫn. Từ nội dung được duyệt tới lúc rút tiền — mọi trạng thái minh bạch, mọi quyết định có audit.</a:t>
            </a:r>
          </a:p>
        </p:txBody>
      </p:sp>
      <p:sp>
        <p:nvSpPr>
          <p:cNvPr id="10" name="Rounded Rectangle 9"/>
          <p:cNvSpPr/>
          <p:nvPr/>
        </p:nvSpPr>
        <p:spPr>
          <a:xfrm>
            <a:off x="566928" y="5138928"/>
            <a:ext cx="1481328" cy="960120"/>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5138928"/>
            <a:ext cx="45720" cy="960120"/>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5239512"/>
            <a:ext cx="1298448" cy="457200"/>
          </a:xfrm>
          <a:prstGeom prst="rect">
            <a:avLst/>
          </a:prstGeom>
          <a:noFill/>
        </p:spPr>
        <p:txBody>
          <a:bodyPr wrap="square" lIns="0" tIns="0" rIns="0" bIns="0" anchor="t">
            <a:spAutoFit/>
          </a:bodyPr>
          <a:lstStyle/>
          <a:p>
            <a:pPr algn="l">
              <a:lnSpc>
                <a:spcPct val="100000"/>
              </a:lnSpc>
              <a:spcBef>
                <a:spcPts val="0"/>
              </a:spcBef>
              <a:spcAft>
                <a:spcPts val="200"/>
              </a:spcAft>
            </a:pPr>
            <a:r>
              <a:rPr sz="2200" b="1" i="0">
                <a:solidFill>
                  <a:srgbClr val="F6B44C"/>
                </a:solidFill>
                <a:latin typeface="Segoe UI"/>
              </a:rPr>
              <a:t>2</a:t>
            </a:r>
          </a:p>
        </p:txBody>
      </p:sp>
      <p:sp>
        <p:nvSpPr>
          <p:cNvPr id="13" name="TextBox 12"/>
          <p:cNvSpPr txBox="1"/>
          <p:nvPr/>
        </p:nvSpPr>
        <p:spPr>
          <a:xfrm>
            <a:off x="713232" y="5660136"/>
            <a:ext cx="1298448" cy="384048"/>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thị trường · VND/PHP</a:t>
            </a:r>
          </a:p>
        </p:txBody>
      </p:sp>
      <p:sp>
        <p:nvSpPr>
          <p:cNvPr id="14" name="Rounded Rectangle 13"/>
          <p:cNvSpPr/>
          <p:nvPr/>
        </p:nvSpPr>
        <p:spPr>
          <a:xfrm>
            <a:off x="2157984" y="5138928"/>
            <a:ext cx="1481328" cy="960120"/>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157984" y="5138928"/>
            <a:ext cx="45720" cy="9601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04288" y="5239512"/>
            <a:ext cx="1298448" cy="457200"/>
          </a:xfrm>
          <a:prstGeom prst="rect">
            <a:avLst/>
          </a:prstGeom>
          <a:noFill/>
        </p:spPr>
        <p:txBody>
          <a:bodyPr wrap="square" lIns="0" tIns="0" rIns="0" bIns="0" anchor="t">
            <a:spAutoFit/>
          </a:bodyPr>
          <a:lstStyle/>
          <a:p>
            <a:pPr algn="l">
              <a:lnSpc>
                <a:spcPct val="100000"/>
              </a:lnSpc>
              <a:spcBef>
                <a:spcPts val="0"/>
              </a:spcBef>
              <a:spcAft>
                <a:spcPts val="200"/>
              </a:spcAft>
            </a:pPr>
            <a:r>
              <a:rPr sz="2200" b="1" i="0">
                <a:solidFill>
                  <a:srgbClr val="22D3EE"/>
                </a:solidFill>
                <a:latin typeface="Segoe UI"/>
              </a:rPr>
              <a:t>5</a:t>
            </a:r>
          </a:p>
        </p:txBody>
      </p:sp>
      <p:sp>
        <p:nvSpPr>
          <p:cNvPr id="17" name="TextBox 16"/>
          <p:cNvSpPr txBox="1"/>
          <p:nvPr/>
        </p:nvSpPr>
        <p:spPr>
          <a:xfrm>
            <a:off x="2304288" y="5660136"/>
            <a:ext cx="1298448" cy="384048"/>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vai điều hành</a:t>
            </a:r>
          </a:p>
        </p:txBody>
      </p:sp>
      <p:sp>
        <p:nvSpPr>
          <p:cNvPr id="18" name="Rounded Rectangle 17"/>
          <p:cNvSpPr/>
          <p:nvPr/>
        </p:nvSpPr>
        <p:spPr>
          <a:xfrm>
            <a:off x="3749040" y="5138928"/>
            <a:ext cx="1481328" cy="960120"/>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749040" y="5138928"/>
            <a:ext cx="45720" cy="96012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95344" y="5239512"/>
            <a:ext cx="1298448" cy="457200"/>
          </a:xfrm>
          <a:prstGeom prst="rect">
            <a:avLst/>
          </a:prstGeom>
          <a:noFill/>
        </p:spPr>
        <p:txBody>
          <a:bodyPr wrap="square" lIns="0" tIns="0" rIns="0" bIns="0" anchor="t">
            <a:spAutoFit/>
          </a:bodyPr>
          <a:lstStyle/>
          <a:p>
            <a:pPr algn="l">
              <a:lnSpc>
                <a:spcPct val="100000"/>
              </a:lnSpc>
              <a:spcBef>
                <a:spcPts val="0"/>
              </a:spcBef>
              <a:spcAft>
                <a:spcPts val="200"/>
              </a:spcAft>
            </a:pPr>
            <a:r>
              <a:rPr sz="2200" b="1" i="0">
                <a:solidFill>
                  <a:srgbClr val="35D08A"/>
                </a:solidFill>
                <a:latin typeface="Segoe UI"/>
              </a:rPr>
              <a:t>3</a:t>
            </a:r>
          </a:p>
        </p:txBody>
      </p:sp>
      <p:sp>
        <p:nvSpPr>
          <p:cNvPr id="21" name="TextBox 20"/>
          <p:cNvSpPr txBox="1"/>
          <p:nvPr/>
        </p:nvSpPr>
        <p:spPr>
          <a:xfrm>
            <a:off x="3895344" y="5660136"/>
            <a:ext cx="1298448" cy="384048"/>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kết cục payout an toàn</a:t>
            </a:r>
          </a:p>
        </p:txBody>
      </p:sp>
      <p:sp>
        <p:nvSpPr>
          <p:cNvPr id="22" name="Rounded Rectangle 21"/>
          <p:cNvSpPr/>
          <p:nvPr/>
        </p:nvSpPr>
        <p:spPr>
          <a:xfrm>
            <a:off x="5340096" y="5138928"/>
            <a:ext cx="1481328" cy="960120"/>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40096" y="5138928"/>
            <a:ext cx="45720" cy="960120"/>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0" y="5239512"/>
            <a:ext cx="1298448" cy="457200"/>
          </a:xfrm>
          <a:prstGeom prst="rect">
            <a:avLst/>
          </a:prstGeom>
          <a:noFill/>
        </p:spPr>
        <p:txBody>
          <a:bodyPr wrap="square" lIns="0" tIns="0" rIns="0" bIns="0" anchor="t">
            <a:spAutoFit/>
          </a:bodyPr>
          <a:lstStyle/>
          <a:p>
            <a:pPr algn="l">
              <a:lnSpc>
                <a:spcPct val="100000"/>
              </a:lnSpc>
              <a:spcBef>
                <a:spcPts val="0"/>
              </a:spcBef>
              <a:spcAft>
                <a:spcPts val="200"/>
              </a:spcAft>
            </a:pPr>
            <a:r>
              <a:rPr sz="2200" b="1" i="0">
                <a:solidFill>
                  <a:srgbClr val="5AB0F0"/>
                </a:solidFill>
                <a:latin typeface="Segoe UI"/>
              </a:rPr>
              <a:t>100%</a:t>
            </a:r>
          </a:p>
        </p:txBody>
      </p:sp>
      <p:sp>
        <p:nvSpPr>
          <p:cNvPr id="25" name="TextBox 24"/>
          <p:cNvSpPr txBox="1"/>
          <p:nvPr/>
        </p:nvSpPr>
        <p:spPr>
          <a:xfrm>
            <a:off x="5486400" y="5660136"/>
            <a:ext cx="1298448" cy="384048"/>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quyết định có audit</a:t>
            </a:r>
          </a:p>
        </p:txBody>
      </p:sp>
      <p:sp>
        <p:nvSpPr>
          <p:cNvPr id="26" name="Rounded Rectangle 25"/>
          <p:cNvSpPr/>
          <p:nvPr/>
        </p:nvSpPr>
        <p:spPr>
          <a:xfrm>
            <a:off x="7452360" y="1927706"/>
            <a:ext cx="4297680" cy="2911147"/>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2360" y="1927706"/>
            <a:ext cx="54864" cy="2911147"/>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52360" y="5742432"/>
            <a:ext cx="4297680" cy="365760"/>
          </a:xfrm>
          <a:prstGeom prst="rect">
            <a:avLst/>
          </a:prstGeom>
          <a:noFill/>
        </p:spPr>
        <p:txBody>
          <a:bodyPr wrap="square" lIns="0" tIns="0" rIns="0" bIns="0" anchor="t">
            <a:spAutoFit/>
          </a:bodyPr>
          <a:lstStyle/>
          <a:p>
            <a:pPr algn="ctr">
              <a:lnSpc>
                <a:spcPct val="100000"/>
              </a:lnSpc>
              <a:spcBef>
                <a:spcPts val="0"/>
              </a:spcBef>
              <a:spcAft>
                <a:spcPts val="200"/>
              </a:spcAft>
            </a:pPr>
            <a:r>
              <a:rPr sz="950" b="0" i="1">
                <a:solidFill>
                  <a:srgbClr val="5F6E86"/>
                </a:solidFill>
                <a:latin typeface="Segoe UI"/>
              </a:rPr>
              <a:t>Bảng điều khiển Creator — dữ liệu tách biệt theo nước</a:t>
            </a:r>
          </a:p>
        </p:txBody>
      </p:sp>
      <p:sp>
        <p:nvSpPr>
          <p:cNvPr id="30" name="TextBox 29"/>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Bản trình bày prototype — tư duy PM từ ý tưởng tới vận hành</a:t>
            </a:r>
          </a:p>
        </p:txBody>
      </p:sp>
      <p:sp>
        <p:nvSpPr>
          <p:cNvPr id="31" name="TextBox 30"/>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01 / 08</a:t>
            </a:r>
          </a:p>
        </p:txBody>
      </p:sp>
      <p:pic>
        <p:nvPicPr>
          <p:cNvPr id="32" name="Picture 31" descr="shot-creator.png"/>
          <p:cNvPicPr>
            <a:picLocks noChangeAspect="1"/>
          </p:cNvPicPr>
          <p:nvPr/>
        </p:nvPicPr>
        <p:blipFill>
          <a:blip r:embed="rId2"/>
          <a:stretch>
            <a:fillRect/>
          </a:stretch>
        </p:blipFill>
        <p:spPr>
          <a:xfrm>
            <a:off x="7507224" y="1982570"/>
            <a:ext cx="4187952" cy="28014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709"/>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772400" y="-2286000"/>
            <a:ext cx="6400800" cy="5486400"/>
          </a:xfrm>
          <a:prstGeom prst="ellipse">
            <a:avLst/>
          </a:prstGeom>
          <a:solidFill>
            <a:srgbClr val="6E7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22D3EE"/>
                </a:solidFill>
                <a:latin typeface="Segoe UI"/>
              </a:rPr>
              <a:t>TƯ DUY SẢN PHẨM · CÁCH TIẾP CẬN</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Năm bước — từ nhu cầu người dùng tới hệ thống vận hành</a:t>
            </a:r>
          </a:p>
        </p:txBody>
      </p:sp>
      <p:sp>
        <p:nvSpPr>
          <p:cNvPr id="7" name="TextBox 6"/>
          <p:cNvSpPr txBox="1"/>
          <p:nvPr/>
        </p:nvSpPr>
        <p:spPr>
          <a:xfrm>
            <a:off x="566928" y="1298448"/>
            <a:ext cx="11064240" cy="216662"/>
          </a:xfrm>
          <a:prstGeom prst="rect">
            <a:avLst/>
          </a:prstGeom>
          <a:noFill/>
        </p:spPr>
        <p:txBody>
          <a:bodyPr wrap="square" lIns="0" tIns="0" rIns="0" bIns="0" anchor="t">
            <a:spAutoFit/>
          </a:bodyPr>
          <a:lstStyle/>
          <a:p>
            <a:pPr algn="l">
              <a:lnSpc>
                <a:spcPct val="125000"/>
              </a:lnSpc>
              <a:spcBef>
                <a:spcPts val="0"/>
              </a:spcBef>
              <a:spcAft>
                <a:spcPts val="200"/>
              </a:spcAft>
            </a:pPr>
            <a:r>
              <a:rPr sz="1250" b="0" i="0" dirty="0" err="1">
                <a:solidFill>
                  <a:srgbClr val="93A1B8"/>
                </a:solidFill>
                <a:latin typeface="Segoe UI"/>
              </a:rPr>
              <a:t>Không</a:t>
            </a:r>
            <a:r>
              <a:rPr sz="1250" b="0" i="0" dirty="0">
                <a:solidFill>
                  <a:srgbClr val="93A1B8"/>
                </a:solidFill>
                <a:latin typeface="Segoe UI"/>
              </a:rPr>
              <a:t> code </a:t>
            </a:r>
            <a:r>
              <a:rPr sz="1250" b="0" i="0" dirty="0" err="1">
                <a:solidFill>
                  <a:srgbClr val="93A1B8"/>
                </a:solidFill>
                <a:latin typeface="Segoe UI"/>
              </a:rPr>
              <a:t>trước</a:t>
            </a:r>
            <a:r>
              <a:rPr sz="1250" b="0" i="0" dirty="0">
                <a:solidFill>
                  <a:srgbClr val="93A1B8"/>
                </a:solidFill>
                <a:latin typeface="Segoe UI"/>
              </a:rPr>
              <a:t> </a:t>
            </a:r>
            <a:r>
              <a:rPr sz="1250" b="0" i="0" dirty="0" err="1">
                <a:solidFill>
                  <a:srgbClr val="93A1B8"/>
                </a:solidFill>
                <a:latin typeface="Segoe UI"/>
              </a:rPr>
              <a:t>rồi</a:t>
            </a:r>
            <a:r>
              <a:rPr sz="1250" b="0" i="0" dirty="0">
                <a:solidFill>
                  <a:srgbClr val="93A1B8"/>
                </a:solidFill>
                <a:latin typeface="Segoe UI"/>
              </a:rPr>
              <a:t> </a:t>
            </a:r>
            <a:r>
              <a:rPr sz="1250" b="0" i="0" dirty="0" err="1">
                <a:solidFill>
                  <a:srgbClr val="93A1B8"/>
                </a:solidFill>
                <a:latin typeface="Segoe UI"/>
              </a:rPr>
              <a:t>mới</a:t>
            </a:r>
            <a:r>
              <a:rPr sz="1250" b="0" i="0" dirty="0">
                <a:solidFill>
                  <a:srgbClr val="93A1B8"/>
                </a:solidFill>
                <a:latin typeface="Segoe UI"/>
              </a:rPr>
              <a:t> </a:t>
            </a:r>
            <a:r>
              <a:rPr sz="1250" b="0" i="0" dirty="0" err="1">
                <a:solidFill>
                  <a:srgbClr val="93A1B8"/>
                </a:solidFill>
                <a:latin typeface="Segoe UI"/>
              </a:rPr>
              <a:t>hiểu</a:t>
            </a:r>
            <a:r>
              <a:rPr sz="1250" b="0" i="0" dirty="0">
                <a:solidFill>
                  <a:srgbClr val="93A1B8"/>
                </a:solidFill>
                <a:latin typeface="Segoe UI"/>
              </a:rPr>
              <a:t>. </a:t>
            </a:r>
            <a:r>
              <a:rPr sz="1250" b="0" i="0" dirty="0" err="1">
                <a:solidFill>
                  <a:srgbClr val="93A1B8"/>
                </a:solidFill>
                <a:latin typeface="Segoe UI"/>
              </a:rPr>
              <a:t>Mỗi</a:t>
            </a:r>
            <a:r>
              <a:rPr sz="1250" b="0" i="0" dirty="0">
                <a:solidFill>
                  <a:srgbClr val="93A1B8"/>
                </a:solidFill>
                <a:latin typeface="Segoe UI"/>
              </a:rPr>
              <a:t> </a:t>
            </a:r>
            <a:r>
              <a:rPr sz="1250" b="0" i="0" dirty="0" err="1">
                <a:solidFill>
                  <a:srgbClr val="93A1B8"/>
                </a:solidFill>
                <a:latin typeface="Segoe UI"/>
              </a:rPr>
              <a:t>bước</a:t>
            </a:r>
            <a:r>
              <a:rPr sz="1250" b="0" i="0" dirty="0">
                <a:solidFill>
                  <a:srgbClr val="93A1B8"/>
                </a:solidFill>
                <a:latin typeface="Segoe UI"/>
              </a:rPr>
              <a:t> </a:t>
            </a:r>
            <a:r>
              <a:rPr sz="1250" b="0" i="0" dirty="0" err="1">
                <a:solidFill>
                  <a:srgbClr val="93A1B8"/>
                </a:solidFill>
                <a:latin typeface="Segoe UI"/>
              </a:rPr>
              <a:t>trả</a:t>
            </a:r>
            <a:r>
              <a:rPr sz="1250" b="0" i="0" dirty="0">
                <a:solidFill>
                  <a:srgbClr val="93A1B8"/>
                </a:solidFill>
                <a:latin typeface="Segoe UI"/>
              </a:rPr>
              <a:t> </a:t>
            </a:r>
            <a:r>
              <a:rPr sz="1250" b="0" i="0" dirty="0" err="1">
                <a:solidFill>
                  <a:srgbClr val="93A1B8"/>
                </a:solidFill>
                <a:latin typeface="Segoe UI"/>
              </a:rPr>
              <a:t>lời</a:t>
            </a:r>
            <a:r>
              <a:rPr sz="1250" b="0" i="0" dirty="0">
                <a:solidFill>
                  <a:srgbClr val="93A1B8"/>
                </a:solidFill>
                <a:latin typeface="Segoe UI"/>
              </a:rPr>
              <a:t> </a:t>
            </a:r>
            <a:r>
              <a:rPr sz="1250" b="0" i="0" dirty="0" err="1">
                <a:solidFill>
                  <a:srgbClr val="93A1B8"/>
                </a:solidFill>
                <a:latin typeface="Segoe UI"/>
              </a:rPr>
              <a:t>một</a:t>
            </a:r>
            <a:r>
              <a:rPr sz="1250" b="0" i="0" dirty="0">
                <a:solidFill>
                  <a:srgbClr val="93A1B8"/>
                </a:solidFill>
                <a:latin typeface="Segoe UI"/>
              </a:rPr>
              <a:t> </a:t>
            </a:r>
            <a:r>
              <a:rPr sz="1250" b="0" i="0" dirty="0" err="1">
                <a:solidFill>
                  <a:srgbClr val="93A1B8"/>
                </a:solidFill>
                <a:latin typeface="Segoe UI"/>
              </a:rPr>
              <a:t>câu</a:t>
            </a:r>
            <a:r>
              <a:rPr sz="1250" b="0" i="0" dirty="0">
                <a:solidFill>
                  <a:srgbClr val="93A1B8"/>
                </a:solidFill>
                <a:latin typeface="Segoe UI"/>
              </a:rPr>
              <a:t> </a:t>
            </a:r>
            <a:r>
              <a:rPr sz="1250" b="0" i="0" dirty="0" err="1">
                <a:solidFill>
                  <a:srgbClr val="93A1B8"/>
                </a:solidFill>
                <a:latin typeface="Segoe UI"/>
              </a:rPr>
              <a:t>hỏi</a:t>
            </a:r>
            <a:r>
              <a:rPr sz="1250" b="0" i="0" dirty="0">
                <a:solidFill>
                  <a:srgbClr val="93A1B8"/>
                </a:solidFill>
                <a:latin typeface="Segoe UI"/>
              </a:rPr>
              <a:t> </a:t>
            </a:r>
            <a:r>
              <a:rPr sz="1250" b="0" i="0" dirty="0" err="1">
                <a:solidFill>
                  <a:srgbClr val="93A1B8"/>
                </a:solidFill>
                <a:latin typeface="Segoe UI"/>
              </a:rPr>
              <a:t>và</a:t>
            </a:r>
            <a:r>
              <a:rPr sz="1250" b="0" i="0" dirty="0">
                <a:solidFill>
                  <a:srgbClr val="93A1B8"/>
                </a:solidFill>
                <a:latin typeface="Segoe UI"/>
              </a:rPr>
              <a:t> </a:t>
            </a:r>
            <a:r>
              <a:rPr sz="1250" b="0" i="0" dirty="0" err="1">
                <a:solidFill>
                  <a:srgbClr val="93A1B8"/>
                </a:solidFill>
                <a:latin typeface="Segoe UI"/>
              </a:rPr>
              <a:t>tạo</a:t>
            </a:r>
            <a:r>
              <a:rPr sz="1250" b="0" i="0" dirty="0">
                <a:solidFill>
                  <a:srgbClr val="93A1B8"/>
                </a:solidFill>
                <a:latin typeface="Segoe UI"/>
              </a:rPr>
              <a:t> </a:t>
            </a:r>
            <a:r>
              <a:rPr sz="1250" b="0" i="0" dirty="0" err="1">
                <a:solidFill>
                  <a:srgbClr val="93A1B8"/>
                </a:solidFill>
                <a:latin typeface="Segoe UI"/>
              </a:rPr>
              <a:t>ra</a:t>
            </a:r>
            <a:r>
              <a:rPr sz="1250" b="0" i="0" dirty="0">
                <a:solidFill>
                  <a:srgbClr val="93A1B8"/>
                </a:solidFill>
                <a:latin typeface="Segoe UI"/>
              </a:rPr>
              <a:t> </a:t>
            </a:r>
            <a:r>
              <a:rPr sz="1250" b="0" i="0" dirty="0" err="1">
                <a:solidFill>
                  <a:srgbClr val="93A1B8"/>
                </a:solidFill>
                <a:latin typeface="Segoe UI"/>
              </a:rPr>
              <a:t>một</a:t>
            </a:r>
            <a:r>
              <a:rPr sz="1250" b="0" i="0" dirty="0">
                <a:solidFill>
                  <a:srgbClr val="93A1B8"/>
                </a:solidFill>
                <a:latin typeface="Segoe UI"/>
              </a:rPr>
              <a:t> </a:t>
            </a:r>
            <a:r>
              <a:rPr sz="1250" b="0" i="0" dirty="0" err="1">
                <a:solidFill>
                  <a:srgbClr val="93A1B8"/>
                </a:solidFill>
                <a:latin typeface="Segoe UI"/>
              </a:rPr>
              <a:t>đầu</a:t>
            </a:r>
            <a:r>
              <a:rPr sz="1250" b="0" i="0" dirty="0">
                <a:solidFill>
                  <a:srgbClr val="93A1B8"/>
                </a:solidFill>
                <a:latin typeface="Segoe UI"/>
              </a:rPr>
              <a:t> </a:t>
            </a:r>
            <a:r>
              <a:rPr sz="1250" b="0" i="0" dirty="0" err="1">
                <a:solidFill>
                  <a:srgbClr val="93A1B8"/>
                </a:solidFill>
                <a:latin typeface="Segoe UI"/>
              </a:rPr>
              <a:t>ra</a:t>
            </a:r>
            <a:r>
              <a:rPr sz="1250" b="0" i="0" dirty="0">
                <a:solidFill>
                  <a:srgbClr val="93A1B8"/>
                </a:solidFill>
                <a:latin typeface="Segoe UI"/>
              </a:rPr>
              <a:t> </a:t>
            </a:r>
            <a:r>
              <a:rPr sz="1250" b="0" i="0" dirty="0" err="1">
                <a:solidFill>
                  <a:srgbClr val="93A1B8"/>
                </a:solidFill>
                <a:latin typeface="Segoe UI"/>
              </a:rPr>
              <a:t>làm</a:t>
            </a:r>
            <a:r>
              <a:rPr sz="1250" b="0" i="0" dirty="0">
                <a:solidFill>
                  <a:srgbClr val="93A1B8"/>
                </a:solidFill>
                <a:latin typeface="Segoe UI"/>
              </a:rPr>
              <a:t> </a:t>
            </a:r>
            <a:r>
              <a:rPr sz="1250" b="0" i="0" dirty="0" err="1">
                <a:solidFill>
                  <a:srgbClr val="93A1B8"/>
                </a:solidFill>
                <a:latin typeface="Segoe UI"/>
              </a:rPr>
              <a:t>nền</a:t>
            </a:r>
            <a:r>
              <a:rPr sz="1250" b="0" i="0" dirty="0">
                <a:solidFill>
                  <a:srgbClr val="93A1B8"/>
                </a:solidFill>
                <a:latin typeface="Segoe UI"/>
              </a:rPr>
              <a:t> </a:t>
            </a:r>
            <a:r>
              <a:rPr sz="1250" b="0" i="0" dirty="0" err="1">
                <a:solidFill>
                  <a:srgbClr val="93A1B8"/>
                </a:solidFill>
                <a:latin typeface="Segoe UI"/>
              </a:rPr>
              <a:t>cho</a:t>
            </a:r>
            <a:r>
              <a:rPr sz="1250" b="0" i="0" dirty="0">
                <a:solidFill>
                  <a:srgbClr val="93A1B8"/>
                </a:solidFill>
                <a:latin typeface="Segoe UI"/>
              </a:rPr>
              <a:t> </a:t>
            </a:r>
            <a:r>
              <a:rPr sz="1250" b="0" i="0" dirty="0" err="1">
                <a:solidFill>
                  <a:srgbClr val="93A1B8"/>
                </a:solidFill>
                <a:latin typeface="Segoe UI"/>
              </a:rPr>
              <a:t>bước</a:t>
            </a:r>
            <a:r>
              <a:rPr sz="1250" b="0" i="0" dirty="0">
                <a:solidFill>
                  <a:srgbClr val="93A1B8"/>
                </a:solidFill>
                <a:latin typeface="Segoe UI"/>
              </a:rPr>
              <a:t> </a:t>
            </a:r>
            <a:r>
              <a:rPr sz="1250" b="0" i="0" dirty="0" err="1">
                <a:solidFill>
                  <a:srgbClr val="93A1B8"/>
                </a:solidFill>
                <a:latin typeface="Segoe UI"/>
              </a:rPr>
              <a:t>sau</a:t>
            </a:r>
            <a:endParaRPr sz="1250" b="0" i="0" dirty="0">
              <a:solidFill>
                <a:srgbClr val="93A1B8"/>
              </a:solidFill>
              <a:latin typeface="Segoe UI"/>
            </a:endParaRPr>
          </a:p>
        </p:txBody>
      </p:sp>
      <p:sp>
        <p:nvSpPr>
          <p:cNvPr id="8" name="Rounded Rectangle 7"/>
          <p:cNvSpPr/>
          <p:nvPr/>
        </p:nvSpPr>
        <p:spPr>
          <a:xfrm>
            <a:off x="566928" y="1965960"/>
            <a:ext cx="2094579" cy="3246120"/>
          </a:xfrm>
          <a:prstGeom prst="roundRect">
            <a:avLst>
              <a:gd name="adj" fmla="val 6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965960"/>
            <a:ext cx="2094579" cy="82296"/>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9808" y="2203704"/>
            <a:ext cx="457200" cy="457200"/>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6B44C"/>
                </a:solidFill>
                <a:latin typeface="Segoe UI"/>
              </a:rPr>
              <a:t>1</a:t>
            </a:r>
          </a:p>
        </p:txBody>
      </p:sp>
      <p:sp>
        <p:nvSpPr>
          <p:cNvPr id="11" name="TextBox 10"/>
          <p:cNvSpPr txBox="1"/>
          <p:nvPr/>
        </p:nvSpPr>
        <p:spPr>
          <a:xfrm>
            <a:off x="749808" y="2807208"/>
            <a:ext cx="1728819"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EDF1F8"/>
                </a:solidFill>
                <a:latin typeface="Segoe UI"/>
              </a:rPr>
              <a:t>PRODUCT</a:t>
            </a:r>
          </a:p>
        </p:txBody>
      </p:sp>
      <p:sp>
        <p:nvSpPr>
          <p:cNvPr id="12" name="TextBox 11"/>
          <p:cNvSpPr txBox="1"/>
          <p:nvPr/>
        </p:nvSpPr>
        <p:spPr>
          <a:xfrm>
            <a:off x="749808" y="3191256"/>
            <a:ext cx="1728819" cy="822960"/>
          </a:xfrm>
          <a:prstGeom prst="rect">
            <a:avLst/>
          </a:prstGeom>
          <a:noFill/>
        </p:spPr>
        <p:txBody>
          <a:bodyPr wrap="square" lIns="0" tIns="0" rIns="0" bIns="0" anchor="t">
            <a:spAutoFit/>
          </a:bodyPr>
          <a:lstStyle/>
          <a:p>
            <a:pPr algn="l">
              <a:lnSpc>
                <a:spcPct val="112000"/>
              </a:lnSpc>
              <a:spcBef>
                <a:spcPts val="0"/>
              </a:spcBef>
              <a:spcAft>
                <a:spcPts val="200"/>
              </a:spcAft>
            </a:pPr>
            <a:r>
              <a:rPr sz="1050" b="1" i="0">
                <a:solidFill>
                  <a:srgbClr val="F6B44C"/>
                </a:solidFill>
                <a:latin typeface="Segoe UI"/>
              </a:rPr>
              <a:t>Người dùng cần gì? Tiền chảy ra sao?</a:t>
            </a:r>
          </a:p>
        </p:txBody>
      </p:sp>
      <p:sp>
        <p:nvSpPr>
          <p:cNvPr id="13" name="Rectangle 12"/>
          <p:cNvSpPr/>
          <p:nvPr/>
        </p:nvSpPr>
        <p:spPr>
          <a:xfrm>
            <a:off x="749808" y="4087368"/>
            <a:ext cx="1728819" cy="12801"/>
          </a:xfrm>
          <a:prstGeom prst="rect">
            <a:avLst/>
          </a:prstGeom>
          <a:solidFill>
            <a:srgbClr val="25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4206240"/>
            <a:ext cx="1728819" cy="914400"/>
          </a:xfrm>
          <a:prstGeom prst="rect">
            <a:avLst/>
          </a:prstGeom>
          <a:noFill/>
        </p:spPr>
        <p:txBody>
          <a:bodyPr wrap="square" lIns="0" tIns="0" rIns="0" bIns="0" anchor="t">
            <a:spAutoFit/>
          </a:bodyPr>
          <a:lstStyle/>
          <a:p>
            <a:pPr algn="l">
              <a:lnSpc>
                <a:spcPct val="120000"/>
              </a:lnSpc>
              <a:spcBef>
                <a:spcPts val="0"/>
              </a:spcBef>
              <a:spcAft>
                <a:spcPts val="200"/>
              </a:spcAft>
            </a:pPr>
            <a:r>
              <a:rPr sz="950" b="0" i="0" dirty="0">
                <a:solidFill>
                  <a:srgbClr val="93A1B8"/>
                </a:solidFill>
                <a:latin typeface="Segoe UI"/>
              </a:rPr>
              <a:t>Personas · </a:t>
            </a:r>
            <a:r>
              <a:rPr sz="950" b="0" i="0" dirty="0" err="1">
                <a:solidFill>
                  <a:srgbClr val="93A1B8"/>
                </a:solidFill>
                <a:latin typeface="Segoe UI"/>
              </a:rPr>
              <a:t>luồng</a:t>
            </a:r>
            <a:r>
              <a:rPr sz="950" b="0" i="0" dirty="0">
                <a:solidFill>
                  <a:srgbClr val="93A1B8"/>
                </a:solidFill>
                <a:latin typeface="Segoe UI"/>
              </a:rPr>
              <a:t> </a:t>
            </a:r>
            <a:r>
              <a:rPr sz="950" b="0" i="0" dirty="0" err="1">
                <a:solidFill>
                  <a:srgbClr val="93A1B8"/>
                </a:solidFill>
                <a:latin typeface="Segoe UI"/>
              </a:rPr>
              <a:t>tiền</a:t>
            </a:r>
            <a:r>
              <a:rPr sz="950" b="0" i="0" dirty="0">
                <a:solidFill>
                  <a:srgbClr val="93A1B8"/>
                </a:solidFill>
                <a:latin typeface="Segoe UI"/>
              </a:rPr>
              <a:t> · 8 </a:t>
            </a:r>
            <a:r>
              <a:rPr sz="950" b="0" i="0" dirty="0" err="1">
                <a:solidFill>
                  <a:srgbClr val="93A1B8"/>
                </a:solidFill>
                <a:latin typeface="Segoe UI"/>
              </a:rPr>
              <a:t>quyết</a:t>
            </a:r>
            <a:r>
              <a:rPr sz="950" b="0" i="0" dirty="0">
                <a:solidFill>
                  <a:srgbClr val="93A1B8"/>
                </a:solidFill>
                <a:latin typeface="Segoe UI"/>
              </a:rPr>
              <a:t> </a:t>
            </a:r>
            <a:r>
              <a:rPr sz="950" b="0" i="0" dirty="0" err="1">
                <a:solidFill>
                  <a:srgbClr val="93A1B8"/>
                </a:solidFill>
                <a:latin typeface="Segoe UI"/>
              </a:rPr>
              <a:t>định</a:t>
            </a:r>
            <a:r>
              <a:rPr sz="950" b="0" i="0" dirty="0">
                <a:solidFill>
                  <a:srgbClr val="93A1B8"/>
                </a:solidFill>
                <a:latin typeface="Segoe UI"/>
              </a:rPr>
              <a:t> </a:t>
            </a:r>
            <a:r>
              <a:rPr sz="950" b="0" i="0" dirty="0" err="1">
                <a:solidFill>
                  <a:srgbClr val="93A1B8"/>
                </a:solidFill>
                <a:latin typeface="Segoe UI"/>
              </a:rPr>
              <a:t>lõi</a:t>
            </a:r>
            <a:r>
              <a:rPr sz="950" b="0" i="0" dirty="0">
                <a:solidFill>
                  <a:srgbClr val="93A1B8"/>
                </a:solidFill>
                <a:latin typeface="Segoe UI"/>
              </a:rPr>
              <a:t>, </a:t>
            </a:r>
            <a:r>
              <a:rPr sz="950" b="0" i="0" dirty="0" err="1">
                <a:solidFill>
                  <a:srgbClr val="93A1B8"/>
                </a:solidFill>
                <a:latin typeface="Segoe UI"/>
              </a:rPr>
              <a:t>mỗi</a:t>
            </a:r>
            <a:r>
              <a:rPr sz="950" b="0" i="0" dirty="0">
                <a:solidFill>
                  <a:srgbClr val="93A1B8"/>
                </a:solidFill>
                <a:latin typeface="Segoe UI"/>
              </a:rPr>
              <a:t> </a:t>
            </a:r>
            <a:r>
              <a:rPr sz="950" b="0" i="0" dirty="0" err="1">
                <a:solidFill>
                  <a:srgbClr val="93A1B8"/>
                </a:solidFill>
                <a:latin typeface="Segoe UI"/>
              </a:rPr>
              <a:t>cái</a:t>
            </a:r>
            <a:r>
              <a:rPr sz="950" b="0" i="0" dirty="0">
                <a:solidFill>
                  <a:srgbClr val="93A1B8"/>
                </a:solidFill>
                <a:latin typeface="Segoe UI"/>
              </a:rPr>
              <a:t> </a:t>
            </a:r>
            <a:r>
              <a:rPr sz="950" b="0" i="0" dirty="0" err="1">
                <a:solidFill>
                  <a:srgbClr val="93A1B8"/>
                </a:solidFill>
                <a:latin typeface="Segoe UI"/>
              </a:rPr>
              <a:t>bác</a:t>
            </a:r>
            <a:r>
              <a:rPr sz="950" b="0" i="0" dirty="0">
                <a:solidFill>
                  <a:srgbClr val="93A1B8"/>
                </a:solidFill>
                <a:latin typeface="Segoe UI"/>
              </a:rPr>
              <a:t> </a:t>
            </a:r>
            <a:r>
              <a:rPr sz="950" b="0" i="0" dirty="0" err="1">
                <a:solidFill>
                  <a:srgbClr val="93A1B8"/>
                </a:solidFill>
                <a:latin typeface="Segoe UI"/>
              </a:rPr>
              <a:t>được</a:t>
            </a:r>
            <a:r>
              <a:rPr sz="950" b="0" i="0" dirty="0">
                <a:solidFill>
                  <a:srgbClr val="93A1B8"/>
                </a:solidFill>
                <a:latin typeface="Segoe UI"/>
              </a:rPr>
              <a:t> 2 </a:t>
            </a:r>
            <a:r>
              <a:rPr sz="950" b="0" i="0" dirty="0" err="1">
                <a:solidFill>
                  <a:srgbClr val="93A1B8"/>
                </a:solidFill>
                <a:latin typeface="Segoe UI"/>
              </a:rPr>
              <a:t>phương</a:t>
            </a:r>
            <a:r>
              <a:rPr sz="950" b="0" i="0" dirty="0">
                <a:solidFill>
                  <a:srgbClr val="93A1B8"/>
                </a:solidFill>
                <a:latin typeface="Segoe UI"/>
              </a:rPr>
              <a:t> </a:t>
            </a:r>
            <a:r>
              <a:rPr sz="950" b="0" i="0" dirty="0" err="1">
                <a:solidFill>
                  <a:srgbClr val="93A1B8"/>
                </a:solidFill>
                <a:latin typeface="Segoe UI"/>
              </a:rPr>
              <a:t>án</a:t>
            </a:r>
            <a:endParaRPr sz="950" b="0" i="0" dirty="0">
              <a:solidFill>
                <a:srgbClr val="93A1B8"/>
              </a:solidFill>
              <a:latin typeface="Segoe UI"/>
            </a:endParaRPr>
          </a:p>
        </p:txBody>
      </p:sp>
      <p:sp>
        <p:nvSpPr>
          <p:cNvPr id="15" name="Chevron 14"/>
          <p:cNvSpPr/>
          <p:nvPr/>
        </p:nvSpPr>
        <p:spPr>
          <a:xfrm>
            <a:off x="2666079" y="3488436"/>
            <a:ext cx="137160" cy="201168"/>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807811" y="1965960"/>
            <a:ext cx="2094579" cy="3246120"/>
          </a:xfrm>
          <a:prstGeom prst="roundRect">
            <a:avLst>
              <a:gd name="adj" fmla="val 6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807811" y="1965960"/>
            <a:ext cx="2094579"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990691" y="2203704"/>
            <a:ext cx="457200" cy="457200"/>
          </a:xfrm>
          <a:prstGeom prst="ellipse">
            <a:avLst/>
          </a:prstGeom>
          <a:solidFill>
            <a:srgbClr val="22D3EE">
              <a:alpha val="16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22D3EE"/>
                </a:solidFill>
                <a:latin typeface="Segoe UI"/>
              </a:rPr>
              <a:t>2</a:t>
            </a:r>
          </a:p>
        </p:txBody>
      </p:sp>
      <p:sp>
        <p:nvSpPr>
          <p:cNvPr id="19" name="TextBox 18"/>
          <p:cNvSpPr txBox="1"/>
          <p:nvPr/>
        </p:nvSpPr>
        <p:spPr>
          <a:xfrm>
            <a:off x="2990691" y="2807208"/>
            <a:ext cx="1728819"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EDF1F8"/>
                </a:solidFill>
                <a:latin typeface="Segoe UI"/>
              </a:rPr>
              <a:t>DATABASE</a:t>
            </a:r>
          </a:p>
        </p:txBody>
      </p:sp>
      <p:sp>
        <p:nvSpPr>
          <p:cNvPr id="20" name="TextBox 19"/>
          <p:cNvSpPr txBox="1"/>
          <p:nvPr/>
        </p:nvSpPr>
        <p:spPr>
          <a:xfrm>
            <a:off x="2990691" y="3191256"/>
            <a:ext cx="1728819" cy="822960"/>
          </a:xfrm>
          <a:prstGeom prst="rect">
            <a:avLst/>
          </a:prstGeom>
          <a:noFill/>
        </p:spPr>
        <p:txBody>
          <a:bodyPr wrap="square" lIns="0" tIns="0" rIns="0" bIns="0" anchor="t">
            <a:spAutoFit/>
          </a:bodyPr>
          <a:lstStyle/>
          <a:p>
            <a:pPr algn="l">
              <a:lnSpc>
                <a:spcPct val="112000"/>
              </a:lnSpc>
              <a:spcBef>
                <a:spcPts val="0"/>
              </a:spcBef>
              <a:spcAft>
                <a:spcPts val="200"/>
              </a:spcAft>
            </a:pPr>
            <a:r>
              <a:rPr sz="1050" b="1" i="0">
                <a:solidFill>
                  <a:srgbClr val="22D3EE"/>
                </a:solidFill>
                <a:latin typeface="Segoe UI"/>
              </a:rPr>
              <a:t>Màn hình đòi dữ liệu nào tồn tại?</a:t>
            </a:r>
          </a:p>
        </p:txBody>
      </p:sp>
      <p:sp>
        <p:nvSpPr>
          <p:cNvPr id="21" name="Rectangle 20"/>
          <p:cNvSpPr/>
          <p:nvPr/>
        </p:nvSpPr>
        <p:spPr>
          <a:xfrm>
            <a:off x="2990691" y="4087368"/>
            <a:ext cx="1728819" cy="12801"/>
          </a:xfrm>
          <a:prstGeom prst="rect">
            <a:avLst/>
          </a:prstGeom>
          <a:solidFill>
            <a:srgbClr val="25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90691" y="4206240"/>
            <a:ext cx="1728819" cy="914400"/>
          </a:xfrm>
          <a:prstGeom prst="rect">
            <a:avLst/>
          </a:prstGeom>
          <a:noFill/>
        </p:spPr>
        <p:txBody>
          <a:bodyPr wrap="square" lIns="0" tIns="0" rIns="0" bIns="0" anchor="t">
            <a:spAutoFit/>
          </a:bodyPr>
          <a:lstStyle/>
          <a:p>
            <a:pPr algn="l">
              <a:lnSpc>
                <a:spcPct val="120000"/>
              </a:lnSpc>
              <a:spcBef>
                <a:spcPts val="0"/>
              </a:spcBef>
              <a:spcAft>
                <a:spcPts val="200"/>
              </a:spcAft>
            </a:pPr>
            <a:r>
              <a:rPr sz="950" b="0" i="0">
                <a:solidFill>
                  <a:srgbClr val="93A1B8"/>
                </a:solidFill>
                <a:latin typeface="Segoe UI"/>
              </a:rPr>
              <a:t>18 bảng lean suy TỪ mockup · khóa unique chống bug tiền</a:t>
            </a:r>
          </a:p>
        </p:txBody>
      </p:sp>
      <p:sp>
        <p:nvSpPr>
          <p:cNvPr id="23" name="Chevron 22"/>
          <p:cNvSpPr/>
          <p:nvPr/>
        </p:nvSpPr>
        <p:spPr>
          <a:xfrm>
            <a:off x="4906963" y="3488436"/>
            <a:ext cx="137160" cy="201168"/>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48695" y="1965960"/>
            <a:ext cx="2094579" cy="3246120"/>
          </a:xfrm>
          <a:prstGeom prst="roundRect">
            <a:avLst>
              <a:gd name="adj" fmla="val 6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48695" y="1965960"/>
            <a:ext cx="2094579" cy="82296"/>
          </a:xfrm>
          <a:prstGeom prst="rect">
            <a:avLst/>
          </a:prstGeom>
          <a:solidFill>
            <a:srgbClr val="6E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231575" y="2203704"/>
            <a:ext cx="457200" cy="457200"/>
          </a:xfrm>
          <a:prstGeom prst="ellipse">
            <a:avLst/>
          </a:prstGeom>
          <a:solidFill>
            <a:srgbClr val="6E7BFF">
              <a:alpha val="16000"/>
            </a:srgbClr>
          </a:solidFill>
          <a:ln w="12700">
            <a:solidFill>
              <a:srgbClr val="6E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6E7BFF"/>
                </a:solidFill>
                <a:latin typeface="Segoe UI"/>
              </a:rPr>
              <a:t>3</a:t>
            </a:r>
          </a:p>
        </p:txBody>
      </p:sp>
      <p:sp>
        <p:nvSpPr>
          <p:cNvPr id="27" name="TextBox 26"/>
          <p:cNvSpPr txBox="1"/>
          <p:nvPr/>
        </p:nvSpPr>
        <p:spPr>
          <a:xfrm>
            <a:off x="5231575" y="2807208"/>
            <a:ext cx="1728819"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EDF1F8"/>
                </a:solidFill>
                <a:latin typeface="Segoe UI"/>
              </a:rPr>
              <a:t>KIẾN TRÚC</a:t>
            </a:r>
          </a:p>
        </p:txBody>
      </p:sp>
      <p:sp>
        <p:nvSpPr>
          <p:cNvPr id="28" name="TextBox 27"/>
          <p:cNvSpPr txBox="1"/>
          <p:nvPr/>
        </p:nvSpPr>
        <p:spPr>
          <a:xfrm>
            <a:off x="5231575" y="3191256"/>
            <a:ext cx="1728819" cy="822960"/>
          </a:xfrm>
          <a:prstGeom prst="rect">
            <a:avLst/>
          </a:prstGeom>
          <a:noFill/>
        </p:spPr>
        <p:txBody>
          <a:bodyPr wrap="square" lIns="0" tIns="0" rIns="0" bIns="0" anchor="t">
            <a:spAutoFit/>
          </a:bodyPr>
          <a:lstStyle/>
          <a:p>
            <a:pPr algn="l">
              <a:lnSpc>
                <a:spcPct val="112000"/>
              </a:lnSpc>
              <a:spcBef>
                <a:spcPts val="0"/>
              </a:spcBef>
              <a:spcAft>
                <a:spcPts val="200"/>
              </a:spcAft>
            </a:pPr>
            <a:r>
              <a:rPr sz="1050" b="1" i="0" dirty="0" err="1">
                <a:solidFill>
                  <a:srgbClr val="6E7BFF"/>
                </a:solidFill>
                <a:latin typeface="Segoe UI"/>
              </a:rPr>
              <a:t>Đặt</a:t>
            </a:r>
            <a:r>
              <a:rPr sz="1050" b="1" i="0" dirty="0">
                <a:solidFill>
                  <a:srgbClr val="6E7BFF"/>
                </a:solidFill>
                <a:latin typeface="Segoe UI"/>
              </a:rPr>
              <a:t> </a:t>
            </a:r>
            <a:r>
              <a:rPr sz="1050" b="1" i="0" dirty="0" err="1">
                <a:solidFill>
                  <a:srgbClr val="6E7BFF"/>
                </a:solidFill>
                <a:latin typeface="Segoe UI"/>
              </a:rPr>
              <a:t>ranh</a:t>
            </a:r>
            <a:r>
              <a:rPr sz="1050" b="1" i="0" dirty="0">
                <a:solidFill>
                  <a:srgbClr val="6E7BFF"/>
                </a:solidFill>
                <a:latin typeface="Segoe UI"/>
              </a:rPr>
              <a:t> </a:t>
            </a:r>
            <a:r>
              <a:rPr sz="1050" b="1" i="0" dirty="0" err="1">
                <a:solidFill>
                  <a:srgbClr val="6E7BFF"/>
                </a:solidFill>
                <a:latin typeface="Segoe UI"/>
              </a:rPr>
              <a:t>giới</a:t>
            </a:r>
            <a:r>
              <a:rPr sz="1050" b="1" i="0" dirty="0">
                <a:solidFill>
                  <a:srgbClr val="6E7BFF"/>
                </a:solidFill>
                <a:latin typeface="Segoe UI"/>
              </a:rPr>
              <a:t> &amp; </a:t>
            </a:r>
            <a:r>
              <a:rPr sz="1050" b="1" i="0" dirty="0" err="1">
                <a:solidFill>
                  <a:srgbClr val="6E7BFF"/>
                </a:solidFill>
                <a:latin typeface="Segoe UI"/>
              </a:rPr>
              <a:t>lòng</a:t>
            </a:r>
            <a:r>
              <a:rPr sz="1050" b="1" i="0" dirty="0">
                <a:solidFill>
                  <a:srgbClr val="6E7BFF"/>
                </a:solidFill>
                <a:latin typeface="Segoe UI"/>
              </a:rPr>
              <a:t> tin ở </a:t>
            </a:r>
            <a:r>
              <a:rPr sz="1050" b="1" i="0" dirty="0" err="1">
                <a:solidFill>
                  <a:srgbClr val="6E7BFF"/>
                </a:solidFill>
                <a:latin typeface="Segoe UI"/>
              </a:rPr>
              <a:t>đâu</a:t>
            </a:r>
            <a:r>
              <a:rPr sz="1050" b="1" i="0" dirty="0">
                <a:solidFill>
                  <a:srgbClr val="6E7BFF"/>
                </a:solidFill>
                <a:latin typeface="Segoe UI"/>
              </a:rPr>
              <a:t>?</a:t>
            </a:r>
          </a:p>
        </p:txBody>
      </p:sp>
      <p:sp>
        <p:nvSpPr>
          <p:cNvPr id="29" name="Rectangle 28"/>
          <p:cNvSpPr/>
          <p:nvPr/>
        </p:nvSpPr>
        <p:spPr>
          <a:xfrm>
            <a:off x="5231575" y="4087368"/>
            <a:ext cx="1728819" cy="12801"/>
          </a:xfrm>
          <a:prstGeom prst="rect">
            <a:avLst/>
          </a:prstGeom>
          <a:solidFill>
            <a:srgbClr val="25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31575" y="4206240"/>
            <a:ext cx="1728819" cy="914400"/>
          </a:xfrm>
          <a:prstGeom prst="rect">
            <a:avLst/>
          </a:prstGeom>
          <a:noFill/>
        </p:spPr>
        <p:txBody>
          <a:bodyPr wrap="square" lIns="0" tIns="0" rIns="0" bIns="0" anchor="t">
            <a:spAutoFit/>
          </a:bodyPr>
          <a:lstStyle/>
          <a:p>
            <a:pPr algn="l">
              <a:lnSpc>
                <a:spcPct val="120000"/>
              </a:lnSpc>
              <a:spcBef>
                <a:spcPts val="0"/>
              </a:spcBef>
              <a:spcAft>
                <a:spcPts val="200"/>
              </a:spcAft>
            </a:pPr>
            <a:r>
              <a:rPr sz="950" b="0" i="0">
                <a:solidFill>
                  <a:srgbClr val="93A1B8"/>
                </a:solidFill>
                <a:latin typeface="Segoe UI"/>
              </a:rPr>
              <a:t>Modular monolith · server không tin client · scope theo phiên</a:t>
            </a:r>
          </a:p>
        </p:txBody>
      </p:sp>
      <p:sp>
        <p:nvSpPr>
          <p:cNvPr id="31" name="Chevron 30"/>
          <p:cNvSpPr/>
          <p:nvPr/>
        </p:nvSpPr>
        <p:spPr>
          <a:xfrm>
            <a:off x="7147846" y="3488436"/>
            <a:ext cx="137160" cy="201168"/>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289578" y="1965960"/>
            <a:ext cx="2094579" cy="3246120"/>
          </a:xfrm>
          <a:prstGeom prst="roundRect">
            <a:avLst>
              <a:gd name="adj" fmla="val 6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289578" y="1965960"/>
            <a:ext cx="2094579" cy="82296"/>
          </a:xfrm>
          <a:prstGeom prst="rect">
            <a:avLst/>
          </a:prstGeom>
          <a:solidFill>
            <a:srgbClr val="B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472458" y="2203704"/>
            <a:ext cx="457200" cy="457200"/>
          </a:xfrm>
          <a:prstGeom prst="ellipse">
            <a:avLst/>
          </a:prstGeom>
          <a:solidFill>
            <a:srgbClr val="B98BFF">
              <a:alpha val="16000"/>
            </a:srgbClr>
          </a:solidFill>
          <a:ln w="12700">
            <a:solidFill>
              <a:srgbClr val="B9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B98BFF"/>
                </a:solidFill>
                <a:latin typeface="Segoe UI"/>
              </a:rPr>
              <a:t>4</a:t>
            </a:r>
          </a:p>
        </p:txBody>
      </p:sp>
      <p:sp>
        <p:nvSpPr>
          <p:cNvPr id="35" name="TextBox 34"/>
          <p:cNvSpPr txBox="1"/>
          <p:nvPr/>
        </p:nvSpPr>
        <p:spPr>
          <a:xfrm>
            <a:off x="7472458" y="2807208"/>
            <a:ext cx="1728819"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EDF1F8"/>
                </a:solidFill>
                <a:latin typeface="Segoe UI"/>
              </a:rPr>
              <a:t>CODING</a:t>
            </a:r>
          </a:p>
        </p:txBody>
      </p:sp>
      <p:sp>
        <p:nvSpPr>
          <p:cNvPr id="36" name="TextBox 35"/>
          <p:cNvSpPr txBox="1"/>
          <p:nvPr/>
        </p:nvSpPr>
        <p:spPr>
          <a:xfrm>
            <a:off x="7472458" y="3191256"/>
            <a:ext cx="1728819" cy="822960"/>
          </a:xfrm>
          <a:prstGeom prst="rect">
            <a:avLst/>
          </a:prstGeom>
          <a:noFill/>
        </p:spPr>
        <p:txBody>
          <a:bodyPr wrap="square" lIns="0" tIns="0" rIns="0" bIns="0" anchor="t">
            <a:spAutoFit/>
          </a:bodyPr>
          <a:lstStyle/>
          <a:p>
            <a:pPr algn="l">
              <a:lnSpc>
                <a:spcPct val="112000"/>
              </a:lnSpc>
              <a:spcBef>
                <a:spcPts val="0"/>
              </a:spcBef>
              <a:spcAft>
                <a:spcPts val="200"/>
              </a:spcAft>
            </a:pPr>
            <a:r>
              <a:rPr sz="1050" b="1" i="0">
                <a:solidFill>
                  <a:srgbClr val="B98BFF"/>
                </a:solidFill>
                <a:latin typeface="Segoe UI"/>
              </a:rPr>
              <a:t>Chỗ nào sai thì đắt nhất?</a:t>
            </a:r>
          </a:p>
        </p:txBody>
      </p:sp>
      <p:sp>
        <p:nvSpPr>
          <p:cNvPr id="37" name="Rectangle 36"/>
          <p:cNvSpPr/>
          <p:nvPr/>
        </p:nvSpPr>
        <p:spPr>
          <a:xfrm>
            <a:off x="7472458" y="4087368"/>
            <a:ext cx="1728819" cy="12801"/>
          </a:xfrm>
          <a:prstGeom prst="rect">
            <a:avLst/>
          </a:prstGeom>
          <a:solidFill>
            <a:srgbClr val="25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72458" y="4206240"/>
            <a:ext cx="1728819" cy="914400"/>
          </a:xfrm>
          <a:prstGeom prst="rect">
            <a:avLst/>
          </a:prstGeom>
          <a:noFill/>
        </p:spPr>
        <p:txBody>
          <a:bodyPr wrap="square" lIns="0" tIns="0" rIns="0" bIns="0" anchor="t">
            <a:spAutoFit/>
          </a:bodyPr>
          <a:lstStyle/>
          <a:p>
            <a:pPr algn="l">
              <a:lnSpc>
                <a:spcPct val="120000"/>
              </a:lnSpc>
              <a:spcBef>
                <a:spcPts val="0"/>
              </a:spcBef>
              <a:spcAft>
                <a:spcPts val="200"/>
              </a:spcAft>
            </a:pPr>
            <a:r>
              <a:rPr sz="950" b="0" i="0">
                <a:solidFill>
                  <a:srgbClr val="93A1B8"/>
                </a:solidFill>
                <a:latin typeface="Segoe UI"/>
              </a:rPr>
              <a:t>Money spine + 7 bài toán khó · có test làm bằng chứng</a:t>
            </a:r>
          </a:p>
        </p:txBody>
      </p:sp>
      <p:sp>
        <p:nvSpPr>
          <p:cNvPr id="39" name="Chevron 38"/>
          <p:cNvSpPr/>
          <p:nvPr/>
        </p:nvSpPr>
        <p:spPr>
          <a:xfrm>
            <a:off x="9388730" y="3488436"/>
            <a:ext cx="137160" cy="201168"/>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530462" y="1965960"/>
            <a:ext cx="2094579" cy="3246120"/>
          </a:xfrm>
          <a:prstGeom prst="roundRect">
            <a:avLst>
              <a:gd name="adj" fmla="val 6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530462" y="1965960"/>
            <a:ext cx="2094579" cy="82296"/>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713342" y="2203704"/>
            <a:ext cx="457200" cy="457200"/>
          </a:xfrm>
          <a:prstGeom prst="ellipse">
            <a:avLst/>
          </a:prstGeom>
          <a:solidFill>
            <a:srgbClr val="35D08A">
              <a:alpha val="16000"/>
            </a:srgbClr>
          </a:solidFill>
          <a:ln w="12700">
            <a:solidFill>
              <a:srgbClr val="35D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35D08A"/>
                </a:solidFill>
                <a:latin typeface="Segoe UI"/>
              </a:rPr>
              <a:t>5</a:t>
            </a:r>
          </a:p>
        </p:txBody>
      </p:sp>
      <p:sp>
        <p:nvSpPr>
          <p:cNvPr id="43" name="TextBox 42"/>
          <p:cNvSpPr txBox="1"/>
          <p:nvPr/>
        </p:nvSpPr>
        <p:spPr>
          <a:xfrm>
            <a:off x="9713342" y="2807208"/>
            <a:ext cx="1728819"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EDF1F8"/>
                </a:solidFill>
                <a:latin typeface="Segoe UI"/>
              </a:rPr>
              <a:t>TRIỂN KHAI</a:t>
            </a:r>
          </a:p>
        </p:txBody>
      </p:sp>
      <p:sp>
        <p:nvSpPr>
          <p:cNvPr id="44" name="TextBox 43"/>
          <p:cNvSpPr txBox="1"/>
          <p:nvPr/>
        </p:nvSpPr>
        <p:spPr>
          <a:xfrm>
            <a:off x="9713342" y="3191256"/>
            <a:ext cx="1728819" cy="822960"/>
          </a:xfrm>
          <a:prstGeom prst="rect">
            <a:avLst/>
          </a:prstGeom>
          <a:noFill/>
        </p:spPr>
        <p:txBody>
          <a:bodyPr wrap="square" lIns="0" tIns="0" rIns="0" bIns="0" anchor="t">
            <a:spAutoFit/>
          </a:bodyPr>
          <a:lstStyle/>
          <a:p>
            <a:pPr algn="l">
              <a:lnSpc>
                <a:spcPct val="112000"/>
              </a:lnSpc>
              <a:spcBef>
                <a:spcPts val="0"/>
              </a:spcBef>
              <a:spcAft>
                <a:spcPts val="200"/>
              </a:spcAft>
            </a:pPr>
            <a:r>
              <a:rPr sz="1050" b="1" i="0">
                <a:solidFill>
                  <a:srgbClr val="35D08A"/>
                </a:solidFill>
                <a:latin typeface="Segoe UI"/>
              </a:rPr>
              <a:t>Chứng minh chạy thật thế nào?</a:t>
            </a:r>
          </a:p>
        </p:txBody>
      </p:sp>
      <p:sp>
        <p:nvSpPr>
          <p:cNvPr id="45" name="Rectangle 44"/>
          <p:cNvSpPr/>
          <p:nvPr/>
        </p:nvSpPr>
        <p:spPr>
          <a:xfrm>
            <a:off x="9713342" y="4087368"/>
            <a:ext cx="1728819" cy="12801"/>
          </a:xfrm>
          <a:prstGeom prst="rect">
            <a:avLst/>
          </a:prstGeom>
          <a:solidFill>
            <a:srgbClr val="25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713342" y="4206240"/>
            <a:ext cx="1728819" cy="914400"/>
          </a:xfrm>
          <a:prstGeom prst="rect">
            <a:avLst/>
          </a:prstGeom>
          <a:noFill/>
        </p:spPr>
        <p:txBody>
          <a:bodyPr wrap="square" lIns="0" tIns="0" rIns="0" bIns="0" anchor="t">
            <a:spAutoFit/>
          </a:bodyPr>
          <a:lstStyle/>
          <a:p>
            <a:pPr algn="l">
              <a:lnSpc>
                <a:spcPct val="120000"/>
              </a:lnSpc>
              <a:spcBef>
                <a:spcPts val="0"/>
              </a:spcBef>
              <a:spcAft>
                <a:spcPts val="200"/>
              </a:spcAft>
            </a:pPr>
            <a:r>
              <a:rPr sz="950" b="0" i="0">
                <a:solidFill>
                  <a:srgbClr val="93A1B8"/>
                </a:solidFill>
                <a:latin typeface="Segoe UI"/>
              </a:rPr>
              <a:t>5 dashboard UI thật · seed + docker · bộ Q&amp;A bảo vệ</a:t>
            </a:r>
          </a:p>
        </p:txBody>
      </p:sp>
      <p:sp>
        <p:nvSpPr>
          <p:cNvPr id="47" name="Rounded Rectangle 46"/>
          <p:cNvSpPr/>
          <p:nvPr/>
        </p:nvSpPr>
        <p:spPr>
          <a:xfrm>
            <a:off x="566928" y="5532120"/>
            <a:ext cx="11058113" cy="749808"/>
          </a:xfrm>
          <a:prstGeom prst="roundRect">
            <a:avLst>
              <a:gd name="adj" fmla="val 12000"/>
            </a:avLst>
          </a:prstGeom>
          <a:solidFill>
            <a:srgbClr val="172033"/>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5614416"/>
            <a:ext cx="10515600" cy="640080"/>
          </a:xfrm>
          <a:prstGeom prst="rect">
            <a:avLst/>
          </a:prstGeom>
          <a:noFill/>
        </p:spPr>
        <p:txBody>
          <a:bodyPr wrap="square" lIns="0" tIns="0" rIns="0" bIns="0" anchor="ctr">
            <a:spAutoFit/>
          </a:bodyPr>
          <a:lstStyle/>
          <a:p>
            <a:pPr algn="l">
              <a:lnSpc>
                <a:spcPct val="120000"/>
              </a:lnSpc>
              <a:spcBef>
                <a:spcPts val="0"/>
              </a:spcBef>
              <a:spcAft>
                <a:spcPts val="200"/>
              </a:spcAft>
            </a:pPr>
            <a:r>
              <a:rPr sz="1100" b="1" i="0">
                <a:solidFill>
                  <a:srgbClr val="22D3EE"/>
                </a:solidFill>
                <a:latin typeface="Segoe UI"/>
              </a:rPr>
              <a:t>Nguyên tắc xuyên suốt:  </a:t>
            </a:r>
            <a:r>
              <a:rPr sz="1100" b="0" i="0">
                <a:solidFill>
                  <a:srgbClr val="93A1B8"/>
                </a:solidFill>
                <a:latin typeface="Segoe UI"/>
              </a:rPr>
              <a:t>mockup trước DB (màn hình cho biết dữ liệu cần) · DB trước code (sửa schema trên giấy rẻ hơn 10 lần) · một luồng dọc chạy hết trước, không mười tính năng dở dang · tiền làm sau cùng vì sai tiền đắt nhất.</a:t>
            </a:r>
          </a:p>
        </p:txBody>
      </p:sp>
      <p:sp>
        <p:nvSpPr>
          <p:cNvPr id="49" name="TextBox 48"/>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Bản đồ 5 bước — mỗi slide sau là một bước</a:t>
            </a:r>
          </a:p>
        </p:txBody>
      </p:sp>
      <p:sp>
        <p:nvSpPr>
          <p:cNvPr id="50" name="TextBox 49"/>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02 / 08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1828800"/>
            <a:ext cx="5486400" cy="4572000"/>
          </a:xfrm>
          <a:prstGeom prst="ellipse">
            <a:avLst/>
          </a:prstGeom>
          <a:solidFill>
            <a:srgbClr val="F6B44C">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F6B44C"/>
                </a:solidFill>
                <a:latin typeface="Segoe UI"/>
              </a:rPr>
              <a:t>BƯỚC 1 · PRODUCT</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Năm vai điều hành, một luồng tiền khép kín</a:t>
            </a:r>
          </a:p>
        </p:txBody>
      </p:sp>
      <p:sp>
        <p:nvSpPr>
          <p:cNvPr id="7" name="Rounded Rectangle 6"/>
          <p:cNvSpPr/>
          <p:nvPr/>
        </p:nvSpPr>
        <p:spPr>
          <a:xfrm>
            <a:off x="566928"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Đăng nhập</a:t>
            </a:r>
          </a:p>
        </p:txBody>
      </p:sp>
      <p:sp>
        <p:nvSpPr>
          <p:cNvPr id="8" name="Rectangle 7"/>
          <p:cNvSpPr/>
          <p:nvPr/>
        </p:nvSpPr>
        <p:spPr>
          <a:xfrm>
            <a:off x="566928" y="1417320"/>
            <a:ext cx="45720" cy="548640"/>
          </a:xfrm>
          <a:prstGeom prst="rect">
            <a:avLst/>
          </a:prstGeom>
          <a:solidFill>
            <a:srgbClr val="93A1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808768"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971616"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Chọn nước</a:t>
            </a:r>
          </a:p>
        </p:txBody>
      </p:sp>
      <p:sp>
        <p:nvSpPr>
          <p:cNvPr id="11" name="Rectangle 10"/>
          <p:cNvSpPr/>
          <p:nvPr/>
        </p:nvSpPr>
        <p:spPr>
          <a:xfrm>
            <a:off x="1971616" y="1417320"/>
            <a:ext cx="45720" cy="548640"/>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hevron 11"/>
          <p:cNvSpPr/>
          <p:nvPr/>
        </p:nvSpPr>
        <p:spPr>
          <a:xfrm>
            <a:off x="3213456"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376304"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KYC</a:t>
            </a:r>
          </a:p>
        </p:txBody>
      </p:sp>
      <p:sp>
        <p:nvSpPr>
          <p:cNvPr id="14" name="Rectangle 13"/>
          <p:cNvSpPr/>
          <p:nvPr/>
        </p:nvSpPr>
        <p:spPr>
          <a:xfrm>
            <a:off x="3376304" y="1417320"/>
            <a:ext cx="45720" cy="548640"/>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hevron 14"/>
          <p:cNvSpPr/>
          <p:nvPr/>
        </p:nvSpPr>
        <p:spPr>
          <a:xfrm>
            <a:off x="4618144"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80992"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Join</a:t>
            </a:r>
          </a:p>
        </p:txBody>
      </p:sp>
      <p:sp>
        <p:nvSpPr>
          <p:cNvPr id="17" name="Rectangle 16"/>
          <p:cNvSpPr/>
          <p:nvPr/>
        </p:nvSpPr>
        <p:spPr>
          <a:xfrm>
            <a:off x="4780992" y="1417320"/>
            <a:ext cx="45720" cy="5486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evron 17"/>
          <p:cNvSpPr/>
          <p:nvPr/>
        </p:nvSpPr>
        <p:spPr>
          <a:xfrm>
            <a:off x="6022832"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85680"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Nộp nội dung</a:t>
            </a:r>
          </a:p>
        </p:txBody>
      </p:sp>
      <p:sp>
        <p:nvSpPr>
          <p:cNvPr id="20" name="Rectangle 19"/>
          <p:cNvSpPr/>
          <p:nvPr/>
        </p:nvSpPr>
        <p:spPr>
          <a:xfrm>
            <a:off x="6185680" y="1417320"/>
            <a:ext cx="45720" cy="548640"/>
          </a:xfrm>
          <a:prstGeom prst="rect">
            <a:avLst/>
          </a:prstGeom>
          <a:solidFill>
            <a:srgbClr val="93A1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hevron 20"/>
          <p:cNvSpPr/>
          <p:nvPr/>
        </p:nvSpPr>
        <p:spPr>
          <a:xfrm>
            <a:off x="7427520"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590369"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Ops duyệt</a:t>
            </a:r>
          </a:p>
        </p:txBody>
      </p:sp>
      <p:sp>
        <p:nvSpPr>
          <p:cNvPr id="23" name="Rectangle 22"/>
          <p:cNvSpPr/>
          <p:nvPr/>
        </p:nvSpPr>
        <p:spPr>
          <a:xfrm>
            <a:off x="7590369" y="1417320"/>
            <a:ext cx="45720" cy="548640"/>
          </a:xfrm>
          <a:prstGeom prst="rect">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hevron 23"/>
          <p:cNvSpPr/>
          <p:nvPr/>
        </p:nvSpPr>
        <p:spPr>
          <a:xfrm>
            <a:off x="8832209"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95057"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Đối soát</a:t>
            </a:r>
          </a:p>
        </p:txBody>
      </p:sp>
      <p:sp>
        <p:nvSpPr>
          <p:cNvPr id="26" name="Rectangle 25"/>
          <p:cNvSpPr/>
          <p:nvPr/>
        </p:nvSpPr>
        <p:spPr>
          <a:xfrm>
            <a:off x="8995057" y="1417320"/>
            <a:ext cx="45720" cy="548640"/>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evron 26"/>
          <p:cNvSpPr/>
          <p:nvPr/>
        </p:nvSpPr>
        <p:spPr>
          <a:xfrm>
            <a:off x="10236897" y="1609344"/>
            <a:ext cx="146304" cy="164592"/>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399745" y="1417320"/>
            <a:ext cx="1225296" cy="548640"/>
          </a:xfrm>
          <a:prstGeom prst="roundRect">
            <a:avLst>
              <a:gd name="adj" fmla="val 28000"/>
            </a:avLst>
          </a:prstGeom>
          <a:solidFill>
            <a:srgbClr val="111828"/>
          </a:solidFill>
          <a:ln w="1143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109728" rIns="36576" rtlCol="0" anchor="ctr"/>
          <a:lstStyle/>
          <a:p>
            <a:pPr algn="ctr"/>
            <a:r>
              <a:rPr sz="950" b="1">
                <a:solidFill>
                  <a:srgbClr val="EDF1F8"/>
                </a:solidFill>
                <a:latin typeface="Segoe UI"/>
              </a:rPr>
              <a:t>Rút tiền</a:t>
            </a:r>
          </a:p>
        </p:txBody>
      </p:sp>
      <p:sp>
        <p:nvSpPr>
          <p:cNvPr id="29" name="Rectangle 28"/>
          <p:cNvSpPr/>
          <p:nvPr/>
        </p:nvSpPr>
        <p:spPr>
          <a:xfrm>
            <a:off x="10399745" y="1417320"/>
            <a:ext cx="45720" cy="54864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2066543"/>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050" b="0" i="1">
                <a:solidFill>
                  <a:srgbClr val="93A1B8"/>
                </a:solidFill>
                <a:latin typeface="Segoe UI"/>
              </a:rPr>
              <a:t>Toàn bộ vòng đời một đồng tiền nằm TRONG hệ thống — khép kín đầu-cuối.</a:t>
            </a:r>
          </a:p>
        </p:txBody>
      </p:sp>
      <p:sp>
        <p:nvSpPr>
          <p:cNvPr id="31" name="Rounded Rectangle 30"/>
          <p:cNvSpPr/>
          <p:nvPr/>
        </p:nvSpPr>
        <p:spPr>
          <a:xfrm>
            <a:off x="566928" y="2487168"/>
            <a:ext cx="6720840" cy="658368"/>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68096" y="2715768"/>
            <a:ext cx="201168" cy="201168"/>
          </a:xfrm>
          <a:prstGeom prst="ellipse">
            <a:avLst/>
          </a:prstGeom>
          <a:solidFill>
            <a:srgbClr val="F6B44C">
              <a:alpha val="18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33856" y="2578608"/>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DF1F8"/>
                </a:solidFill>
                <a:latin typeface="Segoe UI"/>
              </a:rPr>
              <a:t>Creator</a:t>
            </a:r>
          </a:p>
        </p:txBody>
      </p:sp>
      <p:sp>
        <p:nvSpPr>
          <p:cNvPr id="34" name="TextBox 33"/>
          <p:cNvSpPr txBox="1"/>
          <p:nvPr/>
        </p:nvSpPr>
        <p:spPr>
          <a:xfrm>
            <a:off x="1133856" y="2843784"/>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0">
                <a:solidFill>
                  <a:srgbClr val="93A1B8"/>
                </a:solidFill>
                <a:latin typeface="Segoe UI"/>
              </a:rPr>
              <a:t>Tham gia, nộp nội dung, rút thu nhập — riêng theo từng nước</a:t>
            </a:r>
          </a:p>
        </p:txBody>
      </p:sp>
      <p:sp>
        <p:nvSpPr>
          <p:cNvPr id="35" name="Rounded Rectangle 34"/>
          <p:cNvSpPr/>
          <p:nvPr/>
        </p:nvSpPr>
        <p:spPr>
          <a:xfrm>
            <a:off x="566928" y="3232404"/>
            <a:ext cx="6720840" cy="658368"/>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8096" y="3461004"/>
            <a:ext cx="201168" cy="201168"/>
          </a:xfrm>
          <a:prstGeom prst="ellipse">
            <a:avLst/>
          </a:prstGeom>
          <a:solidFill>
            <a:srgbClr val="5AB0F0">
              <a:alpha val="18000"/>
            </a:srgbClr>
          </a:solidFill>
          <a:ln w="12700">
            <a:solidFill>
              <a:srgbClr val="5A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33856" y="3323844"/>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DF1F8"/>
                </a:solidFill>
                <a:latin typeface="Segoe UI"/>
              </a:rPr>
              <a:t>Local Ops</a:t>
            </a:r>
          </a:p>
        </p:txBody>
      </p:sp>
      <p:sp>
        <p:nvSpPr>
          <p:cNvPr id="38" name="TextBox 37"/>
          <p:cNvSpPr txBox="1"/>
          <p:nvPr/>
        </p:nvSpPr>
        <p:spPr>
          <a:xfrm>
            <a:off x="1133856" y="3589020"/>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0">
                <a:solidFill>
                  <a:srgbClr val="93A1B8"/>
                </a:solidFill>
                <a:latin typeface="Segoe UI"/>
              </a:rPr>
              <a:t>Duyệt KYC &amp; nội dung theo từng field, có lý do</a:t>
            </a:r>
          </a:p>
        </p:txBody>
      </p:sp>
      <p:sp>
        <p:nvSpPr>
          <p:cNvPr id="39" name="Rounded Rectangle 38"/>
          <p:cNvSpPr/>
          <p:nvPr/>
        </p:nvSpPr>
        <p:spPr>
          <a:xfrm>
            <a:off x="566928" y="3977639"/>
            <a:ext cx="6720840" cy="658368"/>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68096" y="4206240"/>
            <a:ext cx="201168" cy="201168"/>
          </a:xfrm>
          <a:prstGeom prst="ellipse">
            <a:avLst/>
          </a:prstGeom>
          <a:solidFill>
            <a:srgbClr val="6E7BFF">
              <a:alpha val="18000"/>
            </a:srgbClr>
          </a:solidFill>
          <a:ln w="12700">
            <a:solidFill>
              <a:srgbClr val="6E7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33856" y="4069079"/>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DF1F8"/>
                </a:solidFill>
                <a:latin typeface="Segoe UI"/>
              </a:rPr>
              <a:t>Local Admin</a:t>
            </a:r>
          </a:p>
        </p:txBody>
      </p:sp>
      <p:sp>
        <p:nvSpPr>
          <p:cNvPr id="42" name="TextBox 41"/>
          <p:cNvSpPr txBox="1"/>
          <p:nvPr/>
        </p:nvSpPr>
        <p:spPr>
          <a:xfrm>
            <a:off x="1133856" y="4334255"/>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0">
                <a:solidFill>
                  <a:srgbClr val="93A1B8"/>
                </a:solidFill>
                <a:latin typeface="Segoe UI"/>
              </a:rPr>
              <a:t>Tạo chiến dịch, quy tắc thưởng 3 trục, ngân sách</a:t>
            </a:r>
          </a:p>
        </p:txBody>
      </p:sp>
      <p:sp>
        <p:nvSpPr>
          <p:cNvPr id="43" name="Rounded Rectangle 42"/>
          <p:cNvSpPr/>
          <p:nvPr/>
        </p:nvSpPr>
        <p:spPr>
          <a:xfrm>
            <a:off x="566928" y="4722876"/>
            <a:ext cx="6720840" cy="658368"/>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8096" y="4951476"/>
            <a:ext cx="201168" cy="201168"/>
          </a:xfrm>
          <a:prstGeom prst="ellipse">
            <a:avLst/>
          </a:prstGeom>
          <a:solidFill>
            <a:srgbClr val="35D08A">
              <a:alpha val="18000"/>
            </a:srgbClr>
          </a:solidFill>
          <a:ln w="12700">
            <a:solidFill>
              <a:srgbClr val="35D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33856" y="4814316"/>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DF1F8"/>
                </a:solidFill>
                <a:latin typeface="Segoe UI"/>
              </a:rPr>
              <a:t>Local Finance</a:t>
            </a:r>
          </a:p>
        </p:txBody>
      </p:sp>
      <p:sp>
        <p:nvSpPr>
          <p:cNvPr id="46" name="TextBox 45"/>
          <p:cNvSpPr txBox="1"/>
          <p:nvPr/>
        </p:nvSpPr>
        <p:spPr>
          <a:xfrm>
            <a:off x="1133856" y="5079492"/>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0">
                <a:solidFill>
                  <a:srgbClr val="93A1B8"/>
                </a:solidFill>
                <a:latin typeface="Segoe UI"/>
              </a:rPr>
              <a:t>Đối soát, khoá batch, payout 3 kết cục</a:t>
            </a:r>
          </a:p>
        </p:txBody>
      </p:sp>
      <p:sp>
        <p:nvSpPr>
          <p:cNvPr id="47" name="Rounded Rectangle 46"/>
          <p:cNvSpPr/>
          <p:nvPr/>
        </p:nvSpPr>
        <p:spPr>
          <a:xfrm>
            <a:off x="566928" y="5468112"/>
            <a:ext cx="6720840" cy="658368"/>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8096" y="5696712"/>
            <a:ext cx="201168" cy="201168"/>
          </a:xfrm>
          <a:prstGeom prst="ellipse">
            <a:avLst/>
          </a:prstGeom>
          <a:solidFill>
            <a:srgbClr val="22D3EE">
              <a:alpha val="18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33856" y="5559552"/>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DF1F8"/>
                </a:solidFill>
                <a:latin typeface="Segoe UI"/>
              </a:rPr>
              <a:t>Global Admin</a:t>
            </a:r>
          </a:p>
        </p:txBody>
      </p:sp>
      <p:sp>
        <p:nvSpPr>
          <p:cNvPr id="50" name="TextBox 49"/>
          <p:cNvSpPr txBox="1"/>
          <p:nvPr/>
        </p:nvSpPr>
        <p:spPr>
          <a:xfrm>
            <a:off x="1133856" y="5824728"/>
            <a:ext cx="5989320"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0">
                <a:solidFill>
                  <a:srgbClr val="93A1B8"/>
                </a:solidFill>
                <a:latin typeface="Segoe UI"/>
              </a:rPr>
              <a:t>Vai duy nhất vượt biên giới: cấu hình + audit</a:t>
            </a:r>
          </a:p>
        </p:txBody>
      </p:sp>
      <p:sp>
        <p:nvSpPr>
          <p:cNvPr id="51" name="Rounded Rectangle 50"/>
          <p:cNvSpPr/>
          <p:nvPr/>
        </p:nvSpPr>
        <p:spPr>
          <a:xfrm>
            <a:off x="7635240" y="2854051"/>
            <a:ext cx="4114800" cy="2658656"/>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635240" y="2854051"/>
            <a:ext cx="54864" cy="2658656"/>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635240" y="5943600"/>
            <a:ext cx="4114800" cy="274320"/>
          </a:xfrm>
          <a:prstGeom prst="rect">
            <a:avLst/>
          </a:prstGeom>
          <a:noFill/>
        </p:spPr>
        <p:txBody>
          <a:bodyPr wrap="square" lIns="0" tIns="0" rIns="0" bIns="0" anchor="t">
            <a:spAutoFit/>
          </a:bodyPr>
          <a:lstStyle/>
          <a:p>
            <a:pPr algn="ctr">
              <a:lnSpc>
                <a:spcPct val="100000"/>
              </a:lnSpc>
              <a:spcBef>
                <a:spcPts val="0"/>
              </a:spcBef>
              <a:spcAft>
                <a:spcPts val="200"/>
              </a:spcAft>
            </a:pPr>
            <a:r>
              <a:rPr sz="950" b="0" i="1">
                <a:solidFill>
                  <a:srgbClr val="5F6E86"/>
                </a:solidFill>
                <a:latin typeface="Segoe UI"/>
              </a:rPr>
              <a:t>Trung tâm duyệt của Local Ops — khoá đúng thị trường</a:t>
            </a:r>
          </a:p>
        </p:txBody>
      </p:sp>
      <p:sp>
        <p:nvSpPr>
          <p:cNvPr id="55" name="TextBox 54"/>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Sản phẩm: ai dùng &amp; tiền chảy thế nào</a:t>
            </a:r>
          </a:p>
        </p:txBody>
      </p:sp>
      <p:sp>
        <p:nvSpPr>
          <p:cNvPr id="56" name="TextBox 55"/>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03 / 08</a:t>
            </a:r>
          </a:p>
        </p:txBody>
      </p:sp>
      <p:pic>
        <p:nvPicPr>
          <p:cNvPr id="57" name="Picture 56" descr="shot-ops.png"/>
          <p:cNvPicPr>
            <a:picLocks noChangeAspect="1"/>
          </p:cNvPicPr>
          <p:nvPr/>
        </p:nvPicPr>
        <p:blipFill>
          <a:blip r:embed="rId2"/>
          <a:stretch>
            <a:fillRect/>
          </a:stretch>
        </p:blipFill>
        <p:spPr>
          <a:xfrm>
            <a:off x="7690104" y="2908915"/>
            <a:ext cx="4005072" cy="25489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0" y="-2286000"/>
            <a:ext cx="5486400" cy="4572000"/>
          </a:xfrm>
          <a:prstGeom prst="ellipse">
            <a:avLst/>
          </a:prstGeom>
          <a:solidFill>
            <a:srgbClr val="F6B44C">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F6B44C"/>
                </a:solidFill>
                <a:latin typeface="Segoe UI"/>
              </a:rPr>
              <a:t>BƯỚC 1 · PRODUCT · QUYẾT ĐỊNH LÕI</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Năm điểm cấn — mỗi quyết định bác được hai phương án thay thế</a:t>
            </a:r>
          </a:p>
        </p:txBody>
      </p:sp>
      <p:sp>
        <p:nvSpPr>
          <p:cNvPr id="7" name="TextBox 6"/>
          <p:cNvSpPr txBox="1"/>
          <p:nvPr/>
        </p:nvSpPr>
        <p:spPr>
          <a:xfrm>
            <a:off x="566928" y="1298448"/>
            <a:ext cx="11064240" cy="365760"/>
          </a:xfrm>
          <a:prstGeom prst="rect">
            <a:avLst/>
          </a:prstGeom>
          <a:noFill/>
        </p:spPr>
        <p:txBody>
          <a:bodyPr wrap="square" lIns="0" tIns="0" rIns="0" bIns="0" anchor="t">
            <a:spAutoFit/>
          </a:bodyPr>
          <a:lstStyle/>
          <a:p>
            <a:pPr algn="l">
              <a:lnSpc>
                <a:spcPct val="120000"/>
              </a:lnSpc>
              <a:spcBef>
                <a:spcPts val="0"/>
              </a:spcBef>
              <a:spcAft>
                <a:spcPts val="200"/>
              </a:spcAft>
            </a:pPr>
            <a:r>
              <a:rPr sz="1150" b="0" i="0">
                <a:solidFill>
                  <a:srgbClr val="93A1B8"/>
                </a:solidFill>
                <a:latin typeface="Segoe UI"/>
              </a:rPr>
              <a:t>Một PM chịu trách nhiệm đầu ra không chốt bằng cảm tính: liệt kê ≥3 giải pháp → chọn 1 → nêu rõ vì sao LOẠI hai cái kia.</a:t>
            </a:r>
          </a:p>
        </p:txBody>
      </p:sp>
      <p:sp>
        <p:nvSpPr>
          <p:cNvPr id="8" name="Rounded Rectangle 7"/>
          <p:cNvSpPr/>
          <p:nvPr/>
        </p:nvSpPr>
        <p:spPr>
          <a:xfrm>
            <a:off x="566928" y="1847088"/>
            <a:ext cx="11058113" cy="365760"/>
          </a:xfrm>
          <a:prstGeom prst="roundRect">
            <a:avLst>
              <a:gd name="adj" fmla="val 12000"/>
            </a:avLst>
          </a:prstGeom>
          <a:solidFill>
            <a:srgbClr val="172033"/>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901952"/>
            <a:ext cx="365760" cy="274320"/>
          </a:xfrm>
          <a:prstGeom prst="rect">
            <a:avLst/>
          </a:prstGeom>
          <a:noFill/>
        </p:spPr>
        <p:txBody>
          <a:bodyPr wrap="square" lIns="0" tIns="0" rIns="0" bIns="0" anchor="ctr">
            <a:spAutoFit/>
          </a:bodyPr>
          <a:lstStyle/>
          <a:p>
            <a:pPr algn="l">
              <a:lnSpc>
                <a:spcPct val="100000"/>
              </a:lnSpc>
              <a:spcBef>
                <a:spcPts val="0"/>
              </a:spcBef>
              <a:spcAft>
                <a:spcPts val="200"/>
              </a:spcAft>
            </a:pPr>
            <a:endParaRPr/>
          </a:p>
        </p:txBody>
      </p:sp>
      <p:sp>
        <p:nvSpPr>
          <p:cNvPr id="10" name="TextBox 9"/>
          <p:cNvSpPr txBox="1"/>
          <p:nvPr/>
        </p:nvSpPr>
        <p:spPr>
          <a:xfrm>
            <a:off x="1133856" y="1901952"/>
            <a:ext cx="2651760" cy="274320"/>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93A1B8"/>
                </a:solidFill>
                <a:latin typeface="Segoe UI"/>
              </a:rPr>
              <a:t>ĐIỂM CẤN</a:t>
            </a:r>
          </a:p>
        </p:txBody>
      </p:sp>
      <p:sp>
        <p:nvSpPr>
          <p:cNvPr id="11" name="TextBox 10"/>
          <p:cNvSpPr txBox="1"/>
          <p:nvPr/>
        </p:nvSpPr>
        <p:spPr>
          <a:xfrm>
            <a:off x="3877056" y="1901952"/>
            <a:ext cx="4069080" cy="274320"/>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35D08A"/>
                </a:solidFill>
                <a:latin typeface="Segoe UI"/>
              </a:rPr>
              <a:t>GIẢI PHÁP ĐÃ CHỌN  ✓</a:t>
            </a:r>
          </a:p>
        </p:txBody>
      </p:sp>
      <p:sp>
        <p:nvSpPr>
          <p:cNvPr id="12" name="TextBox 11"/>
          <p:cNvSpPr txBox="1"/>
          <p:nvPr/>
        </p:nvSpPr>
        <p:spPr>
          <a:xfrm>
            <a:off x="8037575" y="1901952"/>
            <a:ext cx="3886200" cy="274320"/>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FB6767"/>
                </a:solidFill>
                <a:latin typeface="Segoe UI"/>
              </a:rPr>
              <a:t>LOẠI — VÌ</a:t>
            </a:r>
          </a:p>
        </p:txBody>
      </p:sp>
      <p:sp>
        <p:nvSpPr>
          <p:cNvPr id="13" name="Rounded Rectangle 12"/>
          <p:cNvSpPr/>
          <p:nvPr/>
        </p:nvSpPr>
        <p:spPr>
          <a:xfrm>
            <a:off x="566928" y="2267712"/>
            <a:ext cx="11058113" cy="758952"/>
          </a:xfrm>
          <a:prstGeom prst="roundRect">
            <a:avLst>
              <a:gd name="adj" fmla="val 8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4944" y="2500884"/>
            <a:ext cx="292608" cy="292608"/>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60" b="1">
                <a:solidFill>
                  <a:srgbClr val="F6B44C"/>
                </a:solidFill>
                <a:latin typeface="Segoe UI"/>
              </a:rPr>
              <a:t>1</a:t>
            </a:r>
          </a:p>
        </p:txBody>
      </p:sp>
      <p:sp>
        <p:nvSpPr>
          <p:cNvPr id="15" name="TextBox 14"/>
          <p:cNvSpPr txBox="1"/>
          <p:nvPr/>
        </p:nvSpPr>
        <p:spPr>
          <a:xfrm>
            <a:off x="1133856" y="2359152"/>
            <a:ext cx="2606040" cy="667512"/>
          </a:xfrm>
          <a:prstGeom prst="rect">
            <a:avLst/>
          </a:prstGeom>
          <a:noFill/>
        </p:spPr>
        <p:txBody>
          <a:bodyPr wrap="square" lIns="0" tIns="0" rIns="0" bIns="0" anchor="ctr">
            <a:spAutoFit/>
          </a:bodyPr>
          <a:lstStyle/>
          <a:p>
            <a:pPr algn="l">
              <a:lnSpc>
                <a:spcPct val="105000"/>
              </a:lnSpc>
              <a:spcBef>
                <a:spcPts val="0"/>
              </a:spcBef>
              <a:spcAft>
                <a:spcPts val="200"/>
              </a:spcAft>
            </a:pPr>
            <a:r>
              <a:rPr sz="1100" b="1" i="0">
                <a:solidFill>
                  <a:srgbClr val="EDF1F8"/>
                </a:solidFill>
                <a:latin typeface="Segoe UI"/>
              </a:rPr>
              <a:t>Tính tiền cho creator</a:t>
            </a:r>
          </a:p>
        </p:txBody>
      </p:sp>
      <p:sp>
        <p:nvSpPr>
          <p:cNvPr id="16" name="TextBox 15"/>
          <p:cNvSpPr txBox="1"/>
          <p:nvPr/>
        </p:nvSpPr>
        <p:spPr>
          <a:xfrm>
            <a:off x="3877056" y="2359152"/>
            <a:ext cx="4023359" cy="667512"/>
          </a:xfrm>
          <a:prstGeom prst="rect">
            <a:avLst/>
          </a:prstGeom>
          <a:noFill/>
        </p:spPr>
        <p:txBody>
          <a:bodyPr wrap="square" lIns="0" tIns="0" rIns="0" bIns="0" anchor="ctr">
            <a:spAutoFit/>
          </a:bodyPr>
          <a:lstStyle/>
          <a:p>
            <a:pPr algn="l">
              <a:lnSpc>
                <a:spcPct val="112000"/>
              </a:lnSpc>
              <a:spcBef>
                <a:spcPts val="0"/>
              </a:spcBef>
              <a:spcAft>
                <a:spcPts val="200"/>
              </a:spcAft>
            </a:pPr>
            <a:r>
              <a:rPr sz="1000" b="0" i="0">
                <a:solidFill>
                  <a:srgbClr val="EDF1F8"/>
                </a:solidFill>
                <a:latin typeface="Segoe UI"/>
              </a:rPr>
              <a:t>Content được duyệt · giá FLAT (rule 3 trục)</a:t>
            </a:r>
          </a:p>
        </p:txBody>
      </p:sp>
      <p:sp>
        <p:nvSpPr>
          <p:cNvPr id="17" name="TextBox 16"/>
          <p:cNvSpPr txBox="1"/>
          <p:nvPr/>
        </p:nvSpPr>
        <p:spPr>
          <a:xfrm>
            <a:off x="8037575" y="2359152"/>
            <a:ext cx="3867911" cy="667512"/>
          </a:xfrm>
          <a:prstGeom prst="rect">
            <a:avLst/>
          </a:prstGeom>
          <a:noFill/>
        </p:spPr>
        <p:txBody>
          <a:bodyPr wrap="square" lIns="0" tIns="0" rIns="0" bIns="0" anchor="ctr">
            <a:spAutoFit/>
          </a:bodyPr>
          <a:lstStyle/>
          <a:p>
            <a:pPr algn="l">
              <a:lnSpc>
                <a:spcPct val="112000"/>
              </a:lnSpc>
              <a:spcBef>
                <a:spcPts val="0"/>
              </a:spcBef>
              <a:spcAft>
                <a:spcPts val="200"/>
              </a:spcAft>
            </a:pPr>
            <a:r>
              <a:rPr sz="950" b="0" i="0">
                <a:solidFill>
                  <a:srgbClr val="93A1B8"/>
                </a:solidFill>
                <a:latin typeface="Segoe UI"/>
              </a:rPr>
              <a:t>view tuyến tính → vỡ ngân sách · CPS → mock nặng, không khép kín</a:t>
            </a:r>
          </a:p>
        </p:txBody>
      </p:sp>
      <p:sp>
        <p:nvSpPr>
          <p:cNvPr id="18" name="Rounded Rectangle 17"/>
          <p:cNvSpPr/>
          <p:nvPr/>
        </p:nvSpPr>
        <p:spPr>
          <a:xfrm>
            <a:off x="566928" y="3081528"/>
            <a:ext cx="11058113" cy="758952"/>
          </a:xfrm>
          <a:prstGeom prst="roundRect">
            <a:avLst>
              <a:gd name="adj" fmla="val 8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94944" y="3314700"/>
            <a:ext cx="292608" cy="292608"/>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60" b="1">
                <a:solidFill>
                  <a:srgbClr val="F6B44C"/>
                </a:solidFill>
                <a:latin typeface="Segoe UI"/>
              </a:rPr>
              <a:t>2</a:t>
            </a:r>
          </a:p>
        </p:txBody>
      </p:sp>
      <p:sp>
        <p:nvSpPr>
          <p:cNvPr id="20" name="TextBox 19"/>
          <p:cNvSpPr txBox="1"/>
          <p:nvPr/>
        </p:nvSpPr>
        <p:spPr>
          <a:xfrm>
            <a:off x="1133856" y="3172968"/>
            <a:ext cx="2606040" cy="667512"/>
          </a:xfrm>
          <a:prstGeom prst="rect">
            <a:avLst/>
          </a:prstGeom>
          <a:noFill/>
        </p:spPr>
        <p:txBody>
          <a:bodyPr wrap="square" lIns="0" tIns="0" rIns="0" bIns="0" anchor="ctr">
            <a:spAutoFit/>
          </a:bodyPr>
          <a:lstStyle/>
          <a:p>
            <a:pPr algn="l">
              <a:lnSpc>
                <a:spcPct val="105000"/>
              </a:lnSpc>
              <a:spcBef>
                <a:spcPts val="0"/>
              </a:spcBef>
              <a:spcAft>
                <a:spcPts val="200"/>
              </a:spcAft>
            </a:pPr>
            <a:r>
              <a:rPr sz="1100" b="1" i="0">
                <a:solidFill>
                  <a:srgbClr val="EDF1F8"/>
                </a:solidFill>
                <a:latin typeface="Segoe UI"/>
              </a:rPr>
              <a:t>Điều kiện được join</a:t>
            </a:r>
          </a:p>
        </p:txBody>
      </p:sp>
      <p:sp>
        <p:nvSpPr>
          <p:cNvPr id="21" name="TextBox 20"/>
          <p:cNvSpPr txBox="1"/>
          <p:nvPr/>
        </p:nvSpPr>
        <p:spPr>
          <a:xfrm>
            <a:off x="3877056" y="3172968"/>
            <a:ext cx="4023359" cy="667512"/>
          </a:xfrm>
          <a:prstGeom prst="rect">
            <a:avLst/>
          </a:prstGeom>
          <a:noFill/>
        </p:spPr>
        <p:txBody>
          <a:bodyPr wrap="square" lIns="0" tIns="0" rIns="0" bIns="0" anchor="ctr">
            <a:spAutoFit/>
          </a:bodyPr>
          <a:lstStyle/>
          <a:p>
            <a:pPr algn="l">
              <a:lnSpc>
                <a:spcPct val="112000"/>
              </a:lnSpc>
              <a:spcBef>
                <a:spcPts val="0"/>
              </a:spcBef>
              <a:spcAft>
                <a:spcPts val="200"/>
              </a:spcAft>
            </a:pPr>
            <a:r>
              <a:rPr sz="1000" b="0" i="0">
                <a:solidFill>
                  <a:srgbClr val="EDF1F8"/>
                </a:solidFill>
                <a:latin typeface="Segoe UI"/>
              </a:rPr>
              <a:t>Mở mặc định + Apply → Ops duyệt (tự-khai + lịch sử nội sinh)</a:t>
            </a:r>
          </a:p>
        </p:txBody>
      </p:sp>
      <p:sp>
        <p:nvSpPr>
          <p:cNvPr id="22" name="TextBox 21"/>
          <p:cNvSpPr txBox="1"/>
          <p:nvPr/>
        </p:nvSpPr>
        <p:spPr>
          <a:xfrm>
            <a:off x="8037575" y="3172968"/>
            <a:ext cx="3867911" cy="667512"/>
          </a:xfrm>
          <a:prstGeom prst="rect">
            <a:avLst/>
          </a:prstGeom>
          <a:noFill/>
        </p:spPr>
        <p:txBody>
          <a:bodyPr wrap="square" lIns="0" tIns="0" rIns="0" bIns="0" anchor="ctr">
            <a:spAutoFit/>
          </a:bodyPr>
          <a:lstStyle/>
          <a:p>
            <a:pPr algn="l">
              <a:lnSpc>
                <a:spcPct val="112000"/>
              </a:lnSpc>
              <a:spcBef>
                <a:spcPts val="0"/>
              </a:spcBef>
              <a:spcAft>
                <a:spcPts val="200"/>
              </a:spcAft>
            </a:pPr>
            <a:r>
              <a:rPr sz="950" b="0" i="0">
                <a:solidFill>
                  <a:srgbClr val="93A1B8"/>
                </a:solidFill>
                <a:latin typeface="Segoe UI"/>
              </a:rPr>
              <a:t>hard-gate API social → ngoài tầm · thả nổi → reject hàng loạt, tốn suất</a:t>
            </a:r>
          </a:p>
        </p:txBody>
      </p:sp>
      <p:sp>
        <p:nvSpPr>
          <p:cNvPr id="23" name="Rounded Rectangle 22"/>
          <p:cNvSpPr/>
          <p:nvPr/>
        </p:nvSpPr>
        <p:spPr>
          <a:xfrm>
            <a:off x="566928" y="3895344"/>
            <a:ext cx="11058113" cy="758952"/>
          </a:xfrm>
          <a:prstGeom prst="roundRect">
            <a:avLst>
              <a:gd name="adj" fmla="val 8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94944" y="4128515"/>
            <a:ext cx="292608" cy="292608"/>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60" b="1">
                <a:solidFill>
                  <a:srgbClr val="F6B44C"/>
                </a:solidFill>
                <a:latin typeface="Segoe UI"/>
              </a:rPr>
              <a:t>3</a:t>
            </a:r>
          </a:p>
        </p:txBody>
      </p:sp>
      <p:sp>
        <p:nvSpPr>
          <p:cNvPr id="25" name="TextBox 24"/>
          <p:cNvSpPr txBox="1"/>
          <p:nvPr/>
        </p:nvSpPr>
        <p:spPr>
          <a:xfrm>
            <a:off x="1133856" y="3986783"/>
            <a:ext cx="2606040" cy="667512"/>
          </a:xfrm>
          <a:prstGeom prst="rect">
            <a:avLst/>
          </a:prstGeom>
          <a:noFill/>
        </p:spPr>
        <p:txBody>
          <a:bodyPr wrap="square" lIns="0" tIns="0" rIns="0" bIns="0" anchor="ctr">
            <a:spAutoFit/>
          </a:bodyPr>
          <a:lstStyle/>
          <a:p>
            <a:pPr algn="l">
              <a:lnSpc>
                <a:spcPct val="105000"/>
              </a:lnSpc>
              <a:spcBef>
                <a:spcPts val="0"/>
              </a:spcBef>
              <a:spcAft>
                <a:spcPts val="200"/>
              </a:spcAft>
            </a:pPr>
            <a:r>
              <a:rPr sz="1100" b="1" i="0">
                <a:solidFill>
                  <a:srgbClr val="EDF1F8"/>
                </a:solidFill>
                <a:latin typeface="Segoe UI"/>
              </a:rPr>
              <a:t>Tranh suất cuối cùng</a:t>
            </a:r>
          </a:p>
        </p:txBody>
      </p:sp>
      <p:sp>
        <p:nvSpPr>
          <p:cNvPr id="26" name="TextBox 25"/>
          <p:cNvSpPr txBox="1"/>
          <p:nvPr/>
        </p:nvSpPr>
        <p:spPr>
          <a:xfrm>
            <a:off x="3877056" y="3986783"/>
            <a:ext cx="4023359" cy="667512"/>
          </a:xfrm>
          <a:prstGeom prst="rect">
            <a:avLst/>
          </a:prstGeom>
          <a:noFill/>
        </p:spPr>
        <p:txBody>
          <a:bodyPr wrap="square" lIns="0" tIns="0" rIns="0" bIns="0" anchor="ctr">
            <a:spAutoFit/>
          </a:bodyPr>
          <a:lstStyle/>
          <a:p>
            <a:pPr algn="l">
              <a:lnSpc>
                <a:spcPct val="112000"/>
              </a:lnSpc>
              <a:spcBef>
                <a:spcPts val="0"/>
              </a:spcBef>
              <a:spcAft>
                <a:spcPts val="200"/>
              </a:spcAft>
            </a:pPr>
            <a:r>
              <a:rPr sz="1000" b="0" i="0">
                <a:solidFill>
                  <a:srgbClr val="EDF1F8"/>
                </a:solidFill>
                <a:latin typeface="Segoe UI"/>
              </a:rPr>
              <a:t>Pessimistic lock FOR UPDATE + UNIQUE + waitlist FCFS</a:t>
            </a:r>
          </a:p>
        </p:txBody>
      </p:sp>
      <p:sp>
        <p:nvSpPr>
          <p:cNvPr id="27" name="TextBox 26"/>
          <p:cNvSpPr txBox="1"/>
          <p:nvPr/>
        </p:nvSpPr>
        <p:spPr>
          <a:xfrm>
            <a:off x="8037575" y="3986783"/>
            <a:ext cx="3867911" cy="667512"/>
          </a:xfrm>
          <a:prstGeom prst="rect">
            <a:avLst/>
          </a:prstGeom>
          <a:noFill/>
        </p:spPr>
        <p:txBody>
          <a:bodyPr wrap="square" lIns="0" tIns="0" rIns="0" bIns="0" anchor="ctr">
            <a:spAutoFit/>
          </a:bodyPr>
          <a:lstStyle/>
          <a:p>
            <a:pPr algn="l">
              <a:lnSpc>
                <a:spcPct val="112000"/>
              </a:lnSpc>
              <a:spcBef>
                <a:spcPts val="0"/>
              </a:spcBef>
              <a:spcAft>
                <a:spcPts val="200"/>
              </a:spcAft>
            </a:pPr>
            <a:r>
              <a:rPr sz="950" b="0" i="0">
                <a:solidFill>
                  <a:srgbClr val="93A1B8"/>
                </a:solidFill>
                <a:latin typeface="Segoe UI"/>
              </a:rPr>
              <a:t>optimistic → retry storm · conditional update → không gói nổi chuỗi bước</a:t>
            </a:r>
          </a:p>
        </p:txBody>
      </p:sp>
      <p:sp>
        <p:nvSpPr>
          <p:cNvPr id="28" name="Rounded Rectangle 27"/>
          <p:cNvSpPr/>
          <p:nvPr/>
        </p:nvSpPr>
        <p:spPr>
          <a:xfrm>
            <a:off x="566928" y="4709160"/>
            <a:ext cx="11058113" cy="758952"/>
          </a:xfrm>
          <a:prstGeom prst="roundRect">
            <a:avLst>
              <a:gd name="adj" fmla="val 8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94944" y="4942332"/>
            <a:ext cx="292608" cy="292608"/>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60" b="1">
                <a:solidFill>
                  <a:srgbClr val="F6B44C"/>
                </a:solidFill>
                <a:latin typeface="Segoe UI"/>
              </a:rPr>
              <a:t>4</a:t>
            </a:r>
          </a:p>
        </p:txBody>
      </p:sp>
      <p:sp>
        <p:nvSpPr>
          <p:cNvPr id="30" name="TextBox 29"/>
          <p:cNvSpPr txBox="1"/>
          <p:nvPr/>
        </p:nvSpPr>
        <p:spPr>
          <a:xfrm>
            <a:off x="1133856" y="4800600"/>
            <a:ext cx="2606040" cy="667512"/>
          </a:xfrm>
          <a:prstGeom prst="rect">
            <a:avLst/>
          </a:prstGeom>
          <a:noFill/>
        </p:spPr>
        <p:txBody>
          <a:bodyPr wrap="square" lIns="0" tIns="0" rIns="0" bIns="0" anchor="ctr">
            <a:spAutoFit/>
          </a:bodyPr>
          <a:lstStyle/>
          <a:p>
            <a:pPr algn="l">
              <a:lnSpc>
                <a:spcPct val="105000"/>
              </a:lnSpc>
              <a:spcBef>
                <a:spcPts val="0"/>
              </a:spcBef>
              <a:spcAft>
                <a:spcPts val="200"/>
              </a:spcAft>
            </a:pPr>
            <a:r>
              <a:rPr sz="1100" b="1" i="0">
                <a:solidFill>
                  <a:srgbClr val="EDF1F8"/>
                </a:solidFill>
                <a:latin typeface="Segoe UI"/>
              </a:rPr>
              <a:t>Đảm bảo THU được tiền</a:t>
            </a:r>
          </a:p>
        </p:txBody>
      </p:sp>
      <p:sp>
        <p:nvSpPr>
          <p:cNvPr id="31" name="TextBox 30"/>
          <p:cNvSpPr txBox="1"/>
          <p:nvPr/>
        </p:nvSpPr>
        <p:spPr>
          <a:xfrm>
            <a:off x="3877056" y="4800600"/>
            <a:ext cx="4023359" cy="667512"/>
          </a:xfrm>
          <a:prstGeom prst="rect">
            <a:avLst/>
          </a:prstGeom>
          <a:noFill/>
        </p:spPr>
        <p:txBody>
          <a:bodyPr wrap="square" lIns="0" tIns="0" rIns="0" bIns="0" anchor="ctr">
            <a:spAutoFit/>
          </a:bodyPr>
          <a:lstStyle/>
          <a:p>
            <a:pPr algn="l">
              <a:lnSpc>
                <a:spcPct val="112000"/>
              </a:lnSpc>
              <a:spcBef>
                <a:spcPts val="0"/>
              </a:spcBef>
              <a:spcAft>
                <a:spcPts val="200"/>
              </a:spcAft>
            </a:pPr>
            <a:r>
              <a:rPr sz="1000" b="0" i="0">
                <a:solidFill>
                  <a:srgbClr val="EDF1F8"/>
                </a:solidFill>
                <a:latin typeface="Segoe UI"/>
              </a:rPr>
              <a:t>Prepaid escrow 100% — nạp đủ mới ACTIVE</a:t>
            </a:r>
          </a:p>
        </p:txBody>
      </p:sp>
      <p:sp>
        <p:nvSpPr>
          <p:cNvPr id="32" name="TextBox 31"/>
          <p:cNvSpPr txBox="1"/>
          <p:nvPr/>
        </p:nvSpPr>
        <p:spPr>
          <a:xfrm>
            <a:off x="8037575" y="4800600"/>
            <a:ext cx="3867911" cy="667512"/>
          </a:xfrm>
          <a:prstGeom prst="rect">
            <a:avLst/>
          </a:prstGeom>
          <a:noFill/>
        </p:spPr>
        <p:txBody>
          <a:bodyPr wrap="square" lIns="0" tIns="0" rIns="0" bIns="0" anchor="ctr">
            <a:spAutoFit/>
          </a:bodyPr>
          <a:lstStyle/>
          <a:p>
            <a:pPr algn="l">
              <a:lnSpc>
                <a:spcPct val="112000"/>
              </a:lnSpc>
              <a:spcBef>
                <a:spcPts val="0"/>
              </a:spcBef>
              <a:spcAft>
                <a:spcPts val="200"/>
              </a:spcAft>
            </a:pPr>
            <a:r>
              <a:rPr sz="950" b="0" i="0">
                <a:solidFill>
                  <a:srgbClr val="93A1B8"/>
                </a:solidFill>
                <a:latin typeface="Segoe UI"/>
              </a:rPr>
              <a:t>NET-terms → rủi ro công nợ · pay-as-you-go → còn khe quỵt giữa chừng</a:t>
            </a:r>
          </a:p>
        </p:txBody>
      </p:sp>
      <p:sp>
        <p:nvSpPr>
          <p:cNvPr id="33" name="Rounded Rectangle 32"/>
          <p:cNvSpPr/>
          <p:nvPr/>
        </p:nvSpPr>
        <p:spPr>
          <a:xfrm>
            <a:off x="566928" y="5522975"/>
            <a:ext cx="11058113" cy="758952"/>
          </a:xfrm>
          <a:prstGeom prst="roundRect">
            <a:avLst>
              <a:gd name="adj" fmla="val 8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94944" y="5756147"/>
            <a:ext cx="292608" cy="292608"/>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60" b="1">
                <a:solidFill>
                  <a:srgbClr val="F6B44C"/>
                </a:solidFill>
                <a:latin typeface="Segoe UI"/>
              </a:rPr>
              <a:t>5</a:t>
            </a:r>
          </a:p>
        </p:txBody>
      </p:sp>
      <p:sp>
        <p:nvSpPr>
          <p:cNvPr id="35" name="TextBox 34"/>
          <p:cNvSpPr txBox="1"/>
          <p:nvPr/>
        </p:nvSpPr>
        <p:spPr>
          <a:xfrm>
            <a:off x="1133856" y="5614415"/>
            <a:ext cx="2606040" cy="667512"/>
          </a:xfrm>
          <a:prstGeom prst="rect">
            <a:avLst/>
          </a:prstGeom>
          <a:noFill/>
        </p:spPr>
        <p:txBody>
          <a:bodyPr wrap="square" lIns="0" tIns="0" rIns="0" bIns="0" anchor="ctr">
            <a:spAutoFit/>
          </a:bodyPr>
          <a:lstStyle/>
          <a:p>
            <a:pPr algn="l">
              <a:lnSpc>
                <a:spcPct val="105000"/>
              </a:lnSpc>
              <a:spcBef>
                <a:spcPts val="0"/>
              </a:spcBef>
              <a:spcAft>
                <a:spcPts val="200"/>
              </a:spcAft>
            </a:pPr>
            <a:r>
              <a:rPr sz="1100" b="1" i="0">
                <a:solidFill>
                  <a:srgbClr val="EDF1F8"/>
                </a:solidFill>
                <a:latin typeface="Segoe UI"/>
              </a:rPr>
              <a:t>Thu phí sàn</a:t>
            </a:r>
          </a:p>
        </p:txBody>
      </p:sp>
      <p:sp>
        <p:nvSpPr>
          <p:cNvPr id="36" name="TextBox 35"/>
          <p:cNvSpPr txBox="1"/>
          <p:nvPr/>
        </p:nvSpPr>
        <p:spPr>
          <a:xfrm>
            <a:off x="3877056" y="5614415"/>
            <a:ext cx="4023359" cy="667512"/>
          </a:xfrm>
          <a:prstGeom prst="rect">
            <a:avLst/>
          </a:prstGeom>
          <a:noFill/>
        </p:spPr>
        <p:txBody>
          <a:bodyPr wrap="square" lIns="0" tIns="0" rIns="0" bIns="0" anchor="ctr">
            <a:spAutoFit/>
          </a:bodyPr>
          <a:lstStyle/>
          <a:p>
            <a:pPr algn="l">
              <a:lnSpc>
                <a:spcPct val="112000"/>
              </a:lnSpc>
              <a:spcBef>
                <a:spcPts val="0"/>
              </a:spcBef>
              <a:spcAft>
                <a:spcPts val="200"/>
              </a:spcAft>
            </a:pPr>
            <a:r>
              <a:rPr sz="1000" b="0" i="0">
                <a:solidFill>
                  <a:srgbClr val="EDF1F8"/>
                </a:solidFill>
                <a:latin typeface="Segoe UI"/>
              </a:rPr>
              <a:t>Take-rate 5–10% từ BRAND — creator nhận đúng niêm yết</a:t>
            </a:r>
          </a:p>
        </p:txBody>
      </p:sp>
      <p:sp>
        <p:nvSpPr>
          <p:cNvPr id="37" name="TextBox 36"/>
          <p:cNvSpPr txBox="1"/>
          <p:nvPr/>
        </p:nvSpPr>
        <p:spPr>
          <a:xfrm>
            <a:off x="8037575" y="5614415"/>
            <a:ext cx="3867911" cy="667512"/>
          </a:xfrm>
          <a:prstGeom prst="rect">
            <a:avLst/>
          </a:prstGeom>
          <a:noFill/>
        </p:spPr>
        <p:txBody>
          <a:bodyPr wrap="square" lIns="0" tIns="0" rIns="0" bIns="0" anchor="ctr">
            <a:spAutoFit/>
          </a:bodyPr>
          <a:lstStyle/>
          <a:p>
            <a:pPr algn="l">
              <a:lnSpc>
                <a:spcPct val="112000"/>
              </a:lnSpc>
              <a:spcBef>
                <a:spcPts val="0"/>
              </a:spcBef>
              <a:spcAft>
                <a:spcPts val="200"/>
              </a:spcAft>
            </a:pPr>
            <a:r>
              <a:rPr sz="950" b="0" i="0">
                <a:solidFill>
                  <a:srgbClr val="93A1B8"/>
                </a:solidFill>
                <a:latin typeface="Segoe UI"/>
              </a:rPr>
              <a:t>cắt vào creator → bào nguồn cung · phí rút → phạt bước cuối</a:t>
            </a:r>
          </a:p>
        </p:txBody>
      </p:sp>
      <p:sp>
        <p:nvSpPr>
          <p:cNvPr id="38" name="TextBox 37"/>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Chi tiết 3-giải-pháp: Report/MENTOR_QA.md · Nhóm 0</a:t>
            </a:r>
          </a:p>
        </p:txBody>
      </p:sp>
      <p:sp>
        <p:nvSpPr>
          <p:cNvPr id="39" name="TextBox 38"/>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04 / 08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3657600"/>
            <a:ext cx="5486400" cy="4572000"/>
          </a:xfrm>
          <a:prstGeom prst="ellipse">
            <a:avLst/>
          </a:prstGeom>
          <a:solidFill>
            <a:srgbClr val="22D3E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22D3EE"/>
                </a:solidFill>
                <a:latin typeface="Segoe UI"/>
              </a:rPr>
              <a:t>BƯỚC 2 · DATABASE   +   BƯỚC 3 · KIẾN TRÚC</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18 bảng lean suy từ mockup — và một ranh giới lòng tin</a:t>
            </a:r>
          </a:p>
        </p:txBody>
      </p:sp>
      <p:sp>
        <p:nvSpPr>
          <p:cNvPr id="7" name="TextBox 6"/>
          <p:cNvSpPr txBox="1"/>
          <p:nvPr/>
        </p:nvSpPr>
        <p:spPr>
          <a:xfrm>
            <a:off x="566928" y="1417320"/>
            <a:ext cx="557784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22D3EE"/>
                </a:solidFill>
                <a:latin typeface="Segoe UI"/>
              </a:rPr>
              <a:t>DATABASE — mỗi bảng có một màn hình “đòi” nó ra</a:t>
            </a:r>
          </a:p>
        </p:txBody>
      </p:sp>
      <p:sp>
        <p:nvSpPr>
          <p:cNvPr id="8" name="TextBox 7"/>
          <p:cNvSpPr txBox="1"/>
          <p:nvPr/>
        </p:nvSpPr>
        <p:spPr>
          <a:xfrm>
            <a:off x="566928" y="1755648"/>
            <a:ext cx="5623560" cy="548640"/>
          </a:xfrm>
          <a:prstGeom prst="rect">
            <a:avLst/>
          </a:prstGeom>
          <a:noFill/>
        </p:spPr>
        <p:txBody>
          <a:bodyPr wrap="square" lIns="0" tIns="0" rIns="0" bIns="0" anchor="t">
            <a:spAutoFit/>
          </a:bodyPr>
          <a:lstStyle/>
          <a:p>
            <a:pPr algn="l">
              <a:lnSpc>
                <a:spcPct val="122000"/>
              </a:lnSpc>
              <a:spcBef>
                <a:spcPts val="0"/>
              </a:spcBef>
              <a:spcAft>
                <a:spcPts val="200"/>
              </a:spcAft>
            </a:pPr>
            <a:r>
              <a:rPr sz="1050" b="0" i="0">
                <a:solidFill>
                  <a:srgbClr val="93A1B8"/>
                </a:solidFill>
                <a:latin typeface="Segoe UI"/>
              </a:rPr>
              <a:t>Bản AI sinh đầu tiên 45 bảng → bỏ, vì không giải thích nổi. Rút còn 18 bảng lean. Khóa unique = tuyến phòng thủ chống bug tiền:</a:t>
            </a:r>
          </a:p>
        </p:txBody>
      </p:sp>
      <p:sp>
        <p:nvSpPr>
          <p:cNvPr id="9" name="Rounded Rectangle 8"/>
          <p:cNvSpPr/>
          <p:nvPr/>
        </p:nvSpPr>
        <p:spPr>
          <a:xfrm>
            <a:off x="566928" y="2395728"/>
            <a:ext cx="5623560" cy="658368"/>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395728"/>
            <a:ext cx="45720" cy="658368"/>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478024"/>
            <a:ext cx="5349240" cy="274320"/>
          </a:xfrm>
          <a:prstGeom prst="rect">
            <a:avLst/>
          </a:prstGeom>
          <a:noFill/>
        </p:spPr>
        <p:txBody>
          <a:bodyPr wrap="square" lIns="0" tIns="0" rIns="0" bIns="0" anchor="t">
            <a:spAutoFit/>
          </a:bodyPr>
          <a:lstStyle/>
          <a:p>
            <a:pPr algn="l">
              <a:lnSpc>
                <a:spcPct val="100000"/>
              </a:lnSpc>
              <a:spcBef>
                <a:spcPts val="0"/>
              </a:spcBef>
              <a:spcAft>
                <a:spcPts val="200"/>
              </a:spcAft>
            </a:pPr>
            <a:r>
              <a:rPr sz="900" b="1" i="0">
                <a:solidFill>
                  <a:srgbClr val="35D08A"/>
                </a:solidFill>
                <a:latin typeface="Segoe UI"/>
              </a:rPr>
              <a:t>UNIQUE </a:t>
            </a:r>
            <a:r>
              <a:rPr sz="1000" b="1" i="0">
                <a:solidFill>
                  <a:srgbClr val="EDF1F8"/>
                </a:solidFill>
                <a:latin typeface="Segoe UI"/>
              </a:rPr>
              <a:t>earning.submission_id</a:t>
            </a:r>
          </a:p>
        </p:txBody>
      </p:sp>
      <p:sp>
        <p:nvSpPr>
          <p:cNvPr id="12" name="TextBox 11"/>
          <p:cNvSpPr txBox="1"/>
          <p:nvPr/>
        </p:nvSpPr>
        <p:spPr>
          <a:xfrm>
            <a:off x="749808" y="2761488"/>
            <a:ext cx="5349240" cy="256032"/>
          </a:xfrm>
          <a:prstGeom prst="rect">
            <a:avLst/>
          </a:prstGeom>
          <a:noFill/>
        </p:spPr>
        <p:txBody>
          <a:bodyPr wrap="square" lIns="0" tIns="0" rIns="0" bIns="0" anchor="t">
            <a:spAutoFit/>
          </a:bodyPr>
          <a:lstStyle/>
          <a:p>
            <a:pPr algn="l">
              <a:lnSpc>
                <a:spcPct val="100000"/>
              </a:lnSpc>
              <a:spcBef>
                <a:spcPts val="0"/>
              </a:spcBef>
              <a:spcAft>
                <a:spcPts val="200"/>
              </a:spcAft>
            </a:pPr>
            <a:r>
              <a:rPr sz="950" b="0" i="0">
                <a:solidFill>
                  <a:srgbClr val="93A1B8"/>
                </a:solidFill>
                <a:latin typeface="Segoe UI"/>
              </a:rPr>
              <a:t>exactly-once — 1 content duyệt không sinh 2 thu nhập</a:t>
            </a:r>
          </a:p>
        </p:txBody>
      </p:sp>
      <p:sp>
        <p:nvSpPr>
          <p:cNvPr id="13" name="Rounded Rectangle 12"/>
          <p:cNvSpPr/>
          <p:nvPr/>
        </p:nvSpPr>
        <p:spPr>
          <a:xfrm>
            <a:off x="566928" y="3145536"/>
            <a:ext cx="5623560" cy="658368"/>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66928" y="3145536"/>
            <a:ext cx="45720"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3227832"/>
            <a:ext cx="5349240" cy="274320"/>
          </a:xfrm>
          <a:prstGeom prst="rect">
            <a:avLst/>
          </a:prstGeom>
          <a:noFill/>
        </p:spPr>
        <p:txBody>
          <a:bodyPr wrap="square" lIns="0" tIns="0" rIns="0" bIns="0" anchor="t">
            <a:spAutoFit/>
          </a:bodyPr>
          <a:lstStyle/>
          <a:p>
            <a:pPr algn="l">
              <a:lnSpc>
                <a:spcPct val="100000"/>
              </a:lnSpc>
              <a:spcBef>
                <a:spcPts val="0"/>
              </a:spcBef>
              <a:spcAft>
                <a:spcPts val="200"/>
              </a:spcAft>
            </a:pPr>
            <a:r>
              <a:rPr sz="900" b="1" i="0">
                <a:solidFill>
                  <a:srgbClr val="22D3EE"/>
                </a:solidFill>
                <a:latin typeface="Segoe UI"/>
              </a:rPr>
              <a:t>UNIQUE </a:t>
            </a:r>
            <a:r>
              <a:rPr sz="1000" b="1" i="0">
                <a:solidFill>
                  <a:srgbClr val="EDF1F8"/>
                </a:solidFill>
                <a:latin typeface="Segoe UI"/>
              </a:rPr>
              <a:t>participation(profile,campaign)</a:t>
            </a:r>
          </a:p>
        </p:txBody>
      </p:sp>
      <p:sp>
        <p:nvSpPr>
          <p:cNvPr id="16" name="TextBox 15"/>
          <p:cNvSpPr txBox="1"/>
          <p:nvPr/>
        </p:nvSpPr>
        <p:spPr>
          <a:xfrm>
            <a:off x="749808" y="3511296"/>
            <a:ext cx="5349240" cy="256032"/>
          </a:xfrm>
          <a:prstGeom prst="rect">
            <a:avLst/>
          </a:prstGeom>
          <a:noFill/>
        </p:spPr>
        <p:txBody>
          <a:bodyPr wrap="square" lIns="0" tIns="0" rIns="0" bIns="0" anchor="t">
            <a:spAutoFit/>
          </a:bodyPr>
          <a:lstStyle/>
          <a:p>
            <a:pPr algn="l">
              <a:lnSpc>
                <a:spcPct val="100000"/>
              </a:lnSpc>
              <a:spcBef>
                <a:spcPts val="0"/>
              </a:spcBef>
              <a:spcAft>
                <a:spcPts val="200"/>
              </a:spcAft>
            </a:pPr>
            <a:r>
              <a:rPr sz="950" b="0" i="0">
                <a:solidFill>
                  <a:srgbClr val="93A1B8"/>
                </a:solidFill>
                <a:latin typeface="Segoe UI"/>
              </a:rPr>
              <a:t>join idempotent — bấm 2 lần không giữ 2 suất</a:t>
            </a:r>
          </a:p>
        </p:txBody>
      </p:sp>
      <p:sp>
        <p:nvSpPr>
          <p:cNvPr id="17" name="Rounded Rectangle 16"/>
          <p:cNvSpPr/>
          <p:nvPr/>
        </p:nvSpPr>
        <p:spPr>
          <a:xfrm>
            <a:off x="566928" y="3895344"/>
            <a:ext cx="5623560" cy="658368"/>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3895344"/>
            <a:ext cx="45720" cy="658368"/>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3977639"/>
            <a:ext cx="5349240" cy="274320"/>
          </a:xfrm>
          <a:prstGeom prst="rect">
            <a:avLst/>
          </a:prstGeom>
          <a:noFill/>
        </p:spPr>
        <p:txBody>
          <a:bodyPr wrap="square" lIns="0" tIns="0" rIns="0" bIns="0" anchor="t">
            <a:spAutoFit/>
          </a:bodyPr>
          <a:lstStyle/>
          <a:p>
            <a:pPr algn="l">
              <a:lnSpc>
                <a:spcPct val="100000"/>
              </a:lnSpc>
              <a:spcBef>
                <a:spcPts val="0"/>
              </a:spcBef>
              <a:spcAft>
                <a:spcPts val="200"/>
              </a:spcAft>
            </a:pPr>
            <a:r>
              <a:rPr sz="900" b="1" i="0">
                <a:solidFill>
                  <a:srgbClr val="5AB0F0"/>
                </a:solidFill>
                <a:latin typeface="Segoe UI"/>
              </a:rPr>
              <a:t>UNIQUE </a:t>
            </a:r>
            <a:r>
              <a:rPr sz="1000" b="1" i="0">
                <a:solidFill>
                  <a:srgbClr val="EDF1F8"/>
                </a:solidFill>
                <a:latin typeface="Segoe UI"/>
              </a:rPr>
              <a:t>payout_attempt.provider_ref</a:t>
            </a:r>
          </a:p>
        </p:txBody>
      </p:sp>
      <p:sp>
        <p:nvSpPr>
          <p:cNvPr id="20" name="TextBox 19"/>
          <p:cNvSpPr txBox="1"/>
          <p:nvPr/>
        </p:nvSpPr>
        <p:spPr>
          <a:xfrm>
            <a:off x="749808" y="4261104"/>
            <a:ext cx="5349240" cy="256032"/>
          </a:xfrm>
          <a:prstGeom prst="rect">
            <a:avLst/>
          </a:prstGeom>
          <a:noFill/>
        </p:spPr>
        <p:txBody>
          <a:bodyPr wrap="square" lIns="0" tIns="0" rIns="0" bIns="0" anchor="t">
            <a:spAutoFit/>
          </a:bodyPr>
          <a:lstStyle/>
          <a:p>
            <a:pPr algn="l">
              <a:lnSpc>
                <a:spcPct val="100000"/>
              </a:lnSpc>
              <a:spcBef>
                <a:spcPts val="0"/>
              </a:spcBef>
              <a:spcAft>
                <a:spcPts val="200"/>
              </a:spcAft>
            </a:pPr>
            <a:r>
              <a:rPr sz="950" b="0" i="0">
                <a:solidFill>
                  <a:srgbClr val="93A1B8"/>
                </a:solidFill>
                <a:latin typeface="Segoe UI"/>
              </a:rPr>
              <a:t>chống double-pay — callback/retry ghi 1 lần</a:t>
            </a:r>
          </a:p>
        </p:txBody>
      </p:sp>
      <p:sp>
        <p:nvSpPr>
          <p:cNvPr id="21" name="Rounded Rectangle 20"/>
          <p:cNvSpPr/>
          <p:nvPr/>
        </p:nvSpPr>
        <p:spPr>
          <a:xfrm>
            <a:off x="566928" y="4645152"/>
            <a:ext cx="5623560" cy="658368"/>
          </a:xfrm>
          <a:prstGeom prst="roundRect">
            <a:avLst>
              <a:gd name="adj" fmla="val 10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66928" y="4645152"/>
            <a:ext cx="45720" cy="658368"/>
          </a:xfrm>
          <a:prstGeom prst="rect">
            <a:avLst/>
          </a:prstGeom>
          <a:solidFill>
            <a:srgbClr val="B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4727448"/>
            <a:ext cx="5349240" cy="274320"/>
          </a:xfrm>
          <a:prstGeom prst="rect">
            <a:avLst/>
          </a:prstGeom>
          <a:noFill/>
        </p:spPr>
        <p:txBody>
          <a:bodyPr wrap="square" lIns="0" tIns="0" rIns="0" bIns="0" anchor="t">
            <a:spAutoFit/>
          </a:bodyPr>
          <a:lstStyle/>
          <a:p>
            <a:pPr algn="l">
              <a:lnSpc>
                <a:spcPct val="100000"/>
              </a:lnSpc>
              <a:spcBef>
                <a:spcPts val="0"/>
              </a:spcBef>
              <a:spcAft>
                <a:spcPts val="200"/>
              </a:spcAft>
            </a:pPr>
            <a:r>
              <a:rPr sz="900" b="1" i="0">
                <a:solidFill>
                  <a:srgbClr val="B98BFF"/>
                </a:solidFill>
                <a:latin typeface="Segoe UI"/>
              </a:rPr>
              <a:t>UNIQUE </a:t>
            </a:r>
            <a:r>
              <a:rPr sz="1000" b="1" i="0">
                <a:solidFill>
                  <a:srgbClr val="EDF1F8"/>
                </a:solidFill>
                <a:latin typeface="Segoe UI"/>
              </a:rPr>
              <a:t>ledger_entry(ref_type,ref_id,type)</a:t>
            </a:r>
          </a:p>
        </p:txBody>
      </p:sp>
      <p:sp>
        <p:nvSpPr>
          <p:cNvPr id="24" name="TextBox 23"/>
          <p:cNvSpPr txBox="1"/>
          <p:nvPr/>
        </p:nvSpPr>
        <p:spPr>
          <a:xfrm>
            <a:off x="749808" y="5010912"/>
            <a:ext cx="5349240" cy="256032"/>
          </a:xfrm>
          <a:prstGeom prst="rect">
            <a:avLst/>
          </a:prstGeom>
          <a:noFill/>
        </p:spPr>
        <p:txBody>
          <a:bodyPr wrap="square" lIns="0" tIns="0" rIns="0" bIns="0" anchor="t">
            <a:spAutoFit/>
          </a:bodyPr>
          <a:lstStyle/>
          <a:p>
            <a:pPr algn="l">
              <a:lnSpc>
                <a:spcPct val="100000"/>
              </a:lnSpc>
              <a:spcBef>
                <a:spcPts val="0"/>
              </a:spcBef>
              <a:spcAft>
                <a:spcPts val="200"/>
              </a:spcAft>
            </a:pPr>
            <a:r>
              <a:rPr sz="950" b="0" i="0">
                <a:solidFill>
                  <a:srgbClr val="93A1B8"/>
                </a:solidFill>
                <a:latin typeface="Segoe UI"/>
              </a:rPr>
              <a:t>1 sự kiện không vào sổ 2 lần</a:t>
            </a:r>
          </a:p>
        </p:txBody>
      </p:sp>
      <p:sp>
        <p:nvSpPr>
          <p:cNvPr id="25" name="TextBox 24"/>
          <p:cNvSpPr txBox="1"/>
          <p:nvPr/>
        </p:nvSpPr>
        <p:spPr>
          <a:xfrm>
            <a:off x="6446520" y="1417320"/>
            <a:ext cx="5486400"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6E7BFF"/>
                </a:solidFill>
                <a:latin typeface="Segoe UI"/>
              </a:rPr>
              <a:t>KIẾN TRÚC — server không bao giờ tin client</a:t>
            </a:r>
          </a:p>
        </p:txBody>
      </p:sp>
      <p:sp>
        <p:nvSpPr>
          <p:cNvPr id="26" name="Rounded Rectangle 25"/>
          <p:cNvSpPr/>
          <p:nvPr/>
        </p:nvSpPr>
        <p:spPr>
          <a:xfrm>
            <a:off x="6446520" y="1874519"/>
            <a:ext cx="1298448" cy="640080"/>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950" b="1">
                <a:solidFill>
                  <a:srgbClr val="EDF1F8"/>
                </a:solidFill>
                <a:latin typeface="Segoe UI"/>
              </a:rPr>
              <a:t>Client</a:t>
            </a:r>
          </a:p>
          <a:p>
            <a:pPr algn="ctr"/>
            <a:r>
              <a:rPr sz="850" b="0">
                <a:solidFill>
                  <a:srgbClr val="93A1B8"/>
                </a:solidFill>
                <a:latin typeface="Segoe UI"/>
              </a:rPr>
              <a:t>(Bearer token)</a:t>
            </a:r>
          </a:p>
        </p:txBody>
      </p:sp>
      <p:sp>
        <p:nvSpPr>
          <p:cNvPr id="27" name="Chevron 26"/>
          <p:cNvSpPr/>
          <p:nvPr/>
        </p:nvSpPr>
        <p:spPr>
          <a:xfrm>
            <a:off x="7781544" y="2121408"/>
            <a:ext cx="109728" cy="146304"/>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927848" y="1874519"/>
            <a:ext cx="1298448" cy="640080"/>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950" b="1">
                <a:solidFill>
                  <a:srgbClr val="EDF1F8"/>
                </a:solidFill>
                <a:latin typeface="Segoe UI"/>
              </a:rPr>
              <a:t>Session Guard</a:t>
            </a:r>
          </a:p>
          <a:p>
            <a:pPr algn="ctr"/>
            <a:r>
              <a:rPr sz="850" b="0">
                <a:solidFill>
                  <a:srgbClr val="93A1B8"/>
                </a:solidFill>
                <a:latin typeface="Segoe UI"/>
              </a:rPr>
              <a:t>(tra DB)</a:t>
            </a:r>
          </a:p>
        </p:txBody>
      </p:sp>
      <p:sp>
        <p:nvSpPr>
          <p:cNvPr id="29" name="Chevron 28"/>
          <p:cNvSpPr/>
          <p:nvPr/>
        </p:nvSpPr>
        <p:spPr>
          <a:xfrm>
            <a:off x="9262872" y="2121408"/>
            <a:ext cx="109728" cy="146304"/>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409176" y="1874519"/>
            <a:ext cx="1298448" cy="640080"/>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950" b="1">
                <a:solidFill>
                  <a:srgbClr val="EDF1F8"/>
                </a:solidFill>
                <a:latin typeface="Segoe UI"/>
              </a:rPr>
              <a:t>Service</a:t>
            </a:r>
          </a:p>
          <a:p>
            <a:pPr algn="ctr"/>
            <a:r>
              <a:rPr sz="850" b="0">
                <a:solidFill>
                  <a:srgbClr val="93A1B8"/>
                </a:solidFill>
                <a:latin typeface="Segoe UI"/>
              </a:rPr>
              <a:t>(scope theo phiên)</a:t>
            </a:r>
          </a:p>
        </p:txBody>
      </p:sp>
      <p:sp>
        <p:nvSpPr>
          <p:cNvPr id="31" name="Chevron 30"/>
          <p:cNvSpPr/>
          <p:nvPr/>
        </p:nvSpPr>
        <p:spPr>
          <a:xfrm>
            <a:off x="10744200" y="2121408"/>
            <a:ext cx="109728" cy="146304"/>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0890504" y="1874519"/>
            <a:ext cx="1298448" cy="640080"/>
          </a:xfrm>
          <a:prstGeom prst="roundRect">
            <a:avLst>
              <a:gd name="adj" fmla="val 12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950" b="1">
                <a:solidFill>
                  <a:srgbClr val="EDF1F8"/>
                </a:solidFill>
                <a:latin typeface="Segoe UI"/>
              </a:rPr>
              <a:t>Go · pgx / sqlc</a:t>
            </a:r>
          </a:p>
        </p:txBody>
      </p:sp>
      <p:sp>
        <p:nvSpPr>
          <p:cNvPr id="33" name="Rounded Rectangle 32"/>
          <p:cNvSpPr/>
          <p:nvPr/>
        </p:nvSpPr>
        <p:spPr>
          <a:xfrm>
            <a:off x="6446520" y="2788920"/>
            <a:ext cx="5742432" cy="841248"/>
          </a:xfrm>
          <a:prstGeom prst="roundRect">
            <a:avLst>
              <a:gd name="adj" fmla="val 9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46520" y="2788920"/>
            <a:ext cx="45720" cy="841248"/>
          </a:xfrm>
          <a:prstGeom prst="rect">
            <a:avLst/>
          </a:prstGeom>
          <a:solidFill>
            <a:srgbClr val="6E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29400" y="2889503"/>
            <a:ext cx="5440680" cy="274320"/>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EDF1F8"/>
                </a:solidFill>
                <a:latin typeface="Segoe UI"/>
              </a:rPr>
              <a:t>Modular Monolith</a:t>
            </a:r>
          </a:p>
        </p:txBody>
      </p:sp>
      <p:sp>
        <p:nvSpPr>
          <p:cNvPr id="36" name="TextBox 35"/>
          <p:cNvSpPr txBox="1"/>
          <p:nvPr/>
        </p:nvSpPr>
        <p:spPr>
          <a:xfrm>
            <a:off x="6629400" y="3172968"/>
            <a:ext cx="5440680" cy="411480"/>
          </a:xfrm>
          <a:prstGeom prst="rect">
            <a:avLst/>
          </a:prstGeom>
          <a:noFill/>
        </p:spPr>
        <p:txBody>
          <a:bodyPr wrap="square" lIns="0" tIns="0" rIns="0" bIns="0" anchor="t">
            <a:spAutoFit/>
          </a:bodyPr>
          <a:lstStyle/>
          <a:p>
            <a:pPr algn="l">
              <a:lnSpc>
                <a:spcPct val="112000"/>
              </a:lnSpc>
              <a:spcBef>
                <a:spcPts val="0"/>
              </a:spcBef>
              <a:spcAft>
                <a:spcPts val="200"/>
              </a:spcAft>
            </a:pPr>
            <a:r>
              <a:rPr sz="950" b="0" i="0">
                <a:solidFill>
                  <a:srgbClr val="93A1B8"/>
                </a:solidFill>
                <a:latin typeface="Segoe UI"/>
              </a:rPr>
              <a:t>Tiền cần transaction trong 1 DB → microservices mất transaction, phải saga. Chia module rõ để tách được sau.</a:t>
            </a:r>
          </a:p>
        </p:txBody>
      </p:sp>
      <p:sp>
        <p:nvSpPr>
          <p:cNvPr id="37" name="Rounded Rectangle 36"/>
          <p:cNvSpPr/>
          <p:nvPr/>
        </p:nvSpPr>
        <p:spPr>
          <a:xfrm>
            <a:off x="6446520" y="3721608"/>
            <a:ext cx="5742432" cy="841248"/>
          </a:xfrm>
          <a:prstGeom prst="roundRect">
            <a:avLst>
              <a:gd name="adj" fmla="val 9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46520" y="3721608"/>
            <a:ext cx="45720" cy="841248"/>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29400" y="3822192"/>
            <a:ext cx="5440680" cy="274320"/>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EDF1F8"/>
                </a:solidFill>
                <a:latin typeface="Segoe UI"/>
              </a:rPr>
              <a:t>Cách ly theo nước</a:t>
            </a:r>
          </a:p>
        </p:txBody>
      </p:sp>
      <p:sp>
        <p:nvSpPr>
          <p:cNvPr id="40" name="TextBox 39"/>
          <p:cNvSpPr txBox="1"/>
          <p:nvPr/>
        </p:nvSpPr>
        <p:spPr>
          <a:xfrm>
            <a:off x="6629400" y="4105656"/>
            <a:ext cx="5440680" cy="411480"/>
          </a:xfrm>
          <a:prstGeom prst="rect">
            <a:avLst/>
          </a:prstGeom>
          <a:noFill/>
        </p:spPr>
        <p:txBody>
          <a:bodyPr wrap="square" lIns="0" tIns="0" rIns="0" bIns="0" anchor="t">
            <a:spAutoFit/>
          </a:bodyPr>
          <a:lstStyle/>
          <a:p>
            <a:pPr algn="l">
              <a:lnSpc>
                <a:spcPct val="112000"/>
              </a:lnSpc>
              <a:spcBef>
                <a:spcPts val="0"/>
              </a:spcBef>
              <a:spcAft>
                <a:spcPts val="200"/>
              </a:spcAft>
            </a:pPr>
            <a:r>
              <a:rPr sz="950" b="0" i="0">
                <a:solidFill>
                  <a:srgbClr val="93A1B8"/>
                </a:solidFill>
                <a:latin typeface="Segoe UI"/>
              </a:rPr>
              <a:t>Route /vn /ph chỉ là ý định hiển thị; quyền do session + role_assignments. Ops VN mở case PH → 404.</a:t>
            </a:r>
          </a:p>
        </p:txBody>
      </p:sp>
      <p:sp>
        <p:nvSpPr>
          <p:cNvPr id="41" name="Rounded Rectangle 40"/>
          <p:cNvSpPr/>
          <p:nvPr/>
        </p:nvSpPr>
        <p:spPr>
          <a:xfrm>
            <a:off x="6446520" y="4654296"/>
            <a:ext cx="5742432" cy="841248"/>
          </a:xfrm>
          <a:prstGeom prst="roundRect">
            <a:avLst>
              <a:gd name="adj" fmla="val 9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446520" y="4654296"/>
            <a:ext cx="45720" cy="841248"/>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29400" y="4754880"/>
            <a:ext cx="5440680" cy="274320"/>
          </a:xfrm>
          <a:prstGeom prst="rect">
            <a:avLst/>
          </a:prstGeom>
          <a:noFill/>
        </p:spPr>
        <p:txBody>
          <a:bodyPr wrap="square" lIns="0" tIns="0" rIns="0" bIns="0" anchor="t">
            <a:spAutoFit/>
          </a:bodyPr>
          <a:lstStyle/>
          <a:p>
            <a:pPr algn="l">
              <a:lnSpc>
                <a:spcPct val="100000"/>
              </a:lnSpc>
              <a:spcBef>
                <a:spcPts val="0"/>
              </a:spcBef>
              <a:spcAft>
                <a:spcPts val="200"/>
              </a:spcAft>
            </a:pPr>
            <a:r>
              <a:rPr sz="1150" b="1" i="0">
                <a:solidFill>
                  <a:srgbClr val="EDF1F8"/>
                </a:solidFill>
                <a:latin typeface="Segoe UI"/>
              </a:rPr>
              <a:t>Session lưu DB</a:t>
            </a:r>
          </a:p>
        </p:txBody>
      </p:sp>
      <p:sp>
        <p:nvSpPr>
          <p:cNvPr id="44" name="TextBox 43"/>
          <p:cNvSpPr txBox="1"/>
          <p:nvPr/>
        </p:nvSpPr>
        <p:spPr>
          <a:xfrm>
            <a:off x="6629400" y="5038344"/>
            <a:ext cx="5440680" cy="411480"/>
          </a:xfrm>
          <a:prstGeom prst="rect">
            <a:avLst/>
          </a:prstGeom>
          <a:noFill/>
        </p:spPr>
        <p:txBody>
          <a:bodyPr wrap="square" lIns="0" tIns="0" rIns="0" bIns="0" anchor="t">
            <a:spAutoFit/>
          </a:bodyPr>
          <a:lstStyle/>
          <a:p>
            <a:pPr algn="l">
              <a:lnSpc>
                <a:spcPct val="112000"/>
              </a:lnSpc>
              <a:spcBef>
                <a:spcPts val="0"/>
              </a:spcBef>
              <a:spcAft>
                <a:spcPts val="200"/>
              </a:spcAft>
            </a:pPr>
            <a:r>
              <a:rPr sz="950" b="0" i="0">
                <a:solidFill>
                  <a:srgbClr val="93A1B8"/>
                </a:solidFill>
                <a:latin typeface="Segoe UI"/>
              </a:rPr>
              <a:t>Không JWT stateless — logout / khóa tài khoản có hiệu lực tức thì; lưu sha256(token).</a:t>
            </a:r>
          </a:p>
        </p:txBody>
      </p:sp>
      <p:sp>
        <p:nvSpPr>
          <p:cNvPr id="45" name="TextBox 44"/>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Database + Kiến trúc: docs/DATA_MODEL.md · docs/ARCHITECTURE.md</a:t>
            </a:r>
          </a:p>
        </p:txBody>
      </p:sp>
      <p:sp>
        <p:nvSpPr>
          <p:cNvPr id="46" name="TextBox 45"/>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05 / 08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0" y="3657600"/>
            <a:ext cx="5486400" cy="4572000"/>
          </a:xfrm>
          <a:prstGeom prst="ellipse">
            <a:avLst/>
          </a:prstGeom>
          <a:solidFill>
            <a:srgbClr val="B9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B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B98BFF"/>
                </a:solidFill>
                <a:latin typeface="Segoe UI"/>
              </a:rPr>
              <a:t>BƯỚC 4 · CODING</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Bảy bài toán khó — nơi sai thì đắt nhất, và lời giải</a:t>
            </a:r>
          </a:p>
        </p:txBody>
      </p:sp>
      <p:sp>
        <p:nvSpPr>
          <p:cNvPr id="7" name="Rounded Rectangle 6"/>
          <p:cNvSpPr/>
          <p:nvPr/>
        </p:nvSpPr>
        <p:spPr>
          <a:xfrm>
            <a:off x="566928" y="1417320"/>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94944" y="1577340"/>
            <a:ext cx="274320" cy="274320"/>
          </a:xfrm>
          <a:prstGeom prst="ellipse">
            <a:avLst/>
          </a:prstGeom>
          <a:solidFill>
            <a:srgbClr val="F6B44C">
              <a:alpha val="16000"/>
            </a:srgbClr>
          </a:solidFill>
          <a:ln w="12700">
            <a:solidFill>
              <a:srgbClr val="F6B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6B44C"/>
                </a:solidFill>
                <a:latin typeface="Segoe UI"/>
              </a:rPr>
              <a:t>1</a:t>
            </a:r>
          </a:p>
        </p:txBody>
      </p:sp>
      <p:sp>
        <p:nvSpPr>
          <p:cNvPr id="9" name="TextBox 8"/>
          <p:cNvSpPr txBox="1"/>
          <p:nvPr/>
        </p:nvSpPr>
        <p:spPr>
          <a:xfrm>
            <a:off x="1097280" y="1472184"/>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Cách ly dữ liệu theo nước</a:t>
            </a:r>
          </a:p>
        </p:txBody>
      </p:sp>
      <p:sp>
        <p:nvSpPr>
          <p:cNvPr id="10" name="TextBox 9"/>
          <p:cNvSpPr txBox="1"/>
          <p:nvPr/>
        </p:nvSpPr>
        <p:spPr>
          <a:xfrm>
            <a:off x="3995928" y="1472184"/>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Không tin country từ client; query scope theo phiên → cross-country trả 404</a:t>
            </a:r>
          </a:p>
        </p:txBody>
      </p:sp>
      <p:sp>
        <p:nvSpPr>
          <p:cNvPr id="11" name="Rounded Rectangle 10"/>
          <p:cNvSpPr/>
          <p:nvPr/>
        </p:nvSpPr>
        <p:spPr>
          <a:xfrm>
            <a:off x="566928" y="2071116"/>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94944" y="2231136"/>
            <a:ext cx="274320" cy="274320"/>
          </a:xfrm>
          <a:prstGeom prst="ellipse">
            <a:avLst/>
          </a:prstGeom>
          <a:solidFill>
            <a:srgbClr val="35D08A">
              <a:alpha val="16000"/>
            </a:srgbClr>
          </a:solidFill>
          <a:ln w="12700">
            <a:solidFill>
              <a:srgbClr val="35D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35D08A"/>
                </a:solidFill>
                <a:latin typeface="Segoe UI"/>
              </a:rPr>
              <a:t>2</a:t>
            </a:r>
          </a:p>
        </p:txBody>
      </p:sp>
      <p:sp>
        <p:nvSpPr>
          <p:cNvPr id="13" name="TextBox 12"/>
          <p:cNvSpPr txBox="1"/>
          <p:nvPr/>
        </p:nvSpPr>
        <p:spPr>
          <a:xfrm>
            <a:off x="1097280" y="2125980"/>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Tiền không dùng float</a:t>
            </a:r>
          </a:p>
        </p:txBody>
      </p:sp>
      <p:sp>
        <p:nvSpPr>
          <p:cNvPr id="14" name="TextBox 13"/>
          <p:cNvSpPr txBox="1"/>
          <p:nvPr/>
        </p:nvSpPr>
        <p:spPr>
          <a:xfrm>
            <a:off x="3995928" y="2125980"/>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minor units (số nguyên) + mã tiền; VND exp 0, PHP exp 2</a:t>
            </a:r>
          </a:p>
        </p:txBody>
      </p:sp>
      <p:sp>
        <p:nvSpPr>
          <p:cNvPr id="15" name="Rounded Rectangle 14"/>
          <p:cNvSpPr/>
          <p:nvPr/>
        </p:nvSpPr>
        <p:spPr>
          <a:xfrm>
            <a:off x="566928" y="2724912"/>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4944" y="2884932"/>
            <a:ext cx="274320" cy="274320"/>
          </a:xfrm>
          <a:prstGeom prst="ellipse">
            <a:avLst/>
          </a:prstGeom>
          <a:solidFill>
            <a:srgbClr val="22D3EE">
              <a:alpha val="16000"/>
            </a:srgbClr>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22D3EE"/>
                </a:solidFill>
                <a:latin typeface="Segoe UI"/>
              </a:rPr>
              <a:t>3</a:t>
            </a:r>
          </a:p>
        </p:txBody>
      </p:sp>
      <p:sp>
        <p:nvSpPr>
          <p:cNvPr id="17" name="TextBox 16"/>
          <p:cNvSpPr txBox="1"/>
          <p:nvPr/>
        </p:nvSpPr>
        <p:spPr>
          <a:xfrm>
            <a:off x="1097280" y="2779776"/>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Exactly-once earning</a:t>
            </a:r>
          </a:p>
        </p:txBody>
      </p:sp>
      <p:sp>
        <p:nvSpPr>
          <p:cNvPr id="18" name="TextBox 17"/>
          <p:cNvSpPr txBox="1"/>
          <p:nvPr/>
        </p:nvSpPr>
        <p:spPr>
          <a:xfrm>
            <a:off x="3995928" y="2779776"/>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unique constraint trên nguồn thưởng + transaction; double-click vô hại</a:t>
            </a:r>
          </a:p>
        </p:txBody>
      </p:sp>
      <p:sp>
        <p:nvSpPr>
          <p:cNvPr id="19" name="Rounded Rectangle 18"/>
          <p:cNvSpPr/>
          <p:nvPr/>
        </p:nvSpPr>
        <p:spPr>
          <a:xfrm>
            <a:off x="566928" y="3378708"/>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94944" y="3538728"/>
            <a:ext cx="274320" cy="274320"/>
          </a:xfrm>
          <a:prstGeom prst="ellipse">
            <a:avLst/>
          </a:prstGeom>
          <a:solidFill>
            <a:srgbClr val="5AB0F0">
              <a:alpha val="16000"/>
            </a:srgbClr>
          </a:solidFill>
          <a:ln w="12700">
            <a:solidFill>
              <a:srgbClr val="5A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5AB0F0"/>
                </a:solidFill>
                <a:latin typeface="Segoe UI"/>
              </a:rPr>
              <a:t>4</a:t>
            </a:r>
          </a:p>
        </p:txBody>
      </p:sp>
      <p:sp>
        <p:nvSpPr>
          <p:cNvPr id="21" name="TextBox 20"/>
          <p:cNvSpPr txBox="1"/>
          <p:nvPr/>
        </p:nvSpPr>
        <p:spPr>
          <a:xfrm>
            <a:off x="1097280" y="3433572"/>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Payout 3 trạng thái</a:t>
            </a:r>
          </a:p>
        </p:txBody>
      </p:sp>
      <p:sp>
        <p:nvSpPr>
          <p:cNvPr id="22" name="TextBox 21"/>
          <p:cNvSpPr txBox="1"/>
          <p:nvPr/>
        </p:nvSpPr>
        <p:spPr>
          <a:xfrm>
            <a:off x="3995928" y="3433572"/>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FAIL→hoàn 1 lần · UNKNOWN→giữ tiền chờ xác minh, không tự hoàn</a:t>
            </a:r>
          </a:p>
        </p:txBody>
      </p:sp>
      <p:sp>
        <p:nvSpPr>
          <p:cNvPr id="23" name="Rounded Rectangle 22"/>
          <p:cNvSpPr/>
          <p:nvPr/>
        </p:nvSpPr>
        <p:spPr>
          <a:xfrm>
            <a:off x="566928" y="4032504"/>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94944" y="4192524"/>
            <a:ext cx="274320" cy="274320"/>
          </a:xfrm>
          <a:prstGeom prst="ellipse">
            <a:avLst/>
          </a:prstGeom>
          <a:solidFill>
            <a:srgbClr val="F5B342">
              <a:alpha val="16000"/>
            </a:srgbClr>
          </a:solidFill>
          <a:ln w="12700">
            <a:solidFill>
              <a:srgbClr val="F5B3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5B342"/>
                </a:solidFill>
                <a:latin typeface="Segoe UI"/>
              </a:rPr>
              <a:t>5</a:t>
            </a:r>
          </a:p>
        </p:txBody>
      </p:sp>
      <p:sp>
        <p:nvSpPr>
          <p:cNvPr id="25" name="TextBox 24"/>
          <p:cNvSpPr txBox="1"/>
          <p:nvPr/>
        </p:nvSpPr>
        <p:spPr>
          <a:xfrm>
            <a:off x="1097280" y="4087368"/>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Snapshot điều khoản lúc Join</a:t>
            </a:r>
          </a:p>
        </p:txBody>
      </p:sp>
      <p:sp>
        <p:nvSpPr>
          <p:cNvPr id="26" name="TextBox 25"/>
          <p:cNvSpPr txBox="1"/>
          <p:nvPr/>
        </p:nvSpPr>
        <p:spPr>
          <a:xfrm>
            <a:off x="3995928" y="4087368"/>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copy terms vào participation; sửa % sau không ảnh hưởng earning cũ</a:t>
            </a:r>
          </a:p>
        </p:txBody>
      </p:sp>
      <p:sp>
        <p:nvSpPr>
          <p:cNvPr id="27" name="Rounded Rectangle 26"/>
          <p:cNvSpPr/>
          <p:nvPr/>
        </p:nvSpPr>
        <p:spPr>
          <a:xfrm>
            <a:off x="566928" y="4686300"/>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94944" y="4846320"/>
            <a:ext cx="274320" cy="274320"/>
          </a:xfrm>
          <a:prstGeom prst="ellipse">
            <a:avLst/>
          </a:prstGeom>
          <a:solidFill>
            <a:srgbClr val="B98BFF">
              <a:alpha val="16000"/>
            </a:srgbClr>
          </a:solidFill>
          <a:ln w="12700">
            <a:solidFill>
              <a:srgbClr val="B9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B98BFF"/>
                </a:solidFill>
                <a:latin typeface="Segoe UI"/>
              </a:rPr>
              <a:t>6</a:t>
            </a:r>
          </a:p>
        </p:txBody>
      </p:sp>
      <p:sp>
        <p:nvSpPr>
          <p:cNvPr id="29" name="TextBox 28"/>
          <p:cNvSpPr txBox="1"/>
          <p:nvPr/>
        </p:nvSpPr>
        <p:spPr>
          <a:xfrm>
            <a:off x="1097280" y="4741164"/>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Ledger append-only</a:t>
            </a:r>
          </a:p>
        </p:txBody>
      </p:sp>
      <p:sp>
        <p:nvSpPr>
          <p:cNvPr id="30" name="TextBox 29"/>
          <p:cNvSpPr txBox="1"/>
          <p:nvPr/>
        </p:nvSpPr>
        <p:spPr>
          <a:xfrm>
            <a:off x="3995928" y="4741164"/>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không UPDATE/DELETE tiền; sửa sai bằng bút toán đảo có link gốc</a:t>
            </a:r>
          </a:p>
        </p:txBody>
      </p:sp>
      <p:sp>
        <p:nvSpPr>
          <p:cNvPr id="31" name="Rounded Rectangle 30"/>
          <p:cNvSpPr/>
          <p:nvPr/>
        </p:nvSpPr>
        <p:spPr>
          <a:xfrm>
            <a:off x="566928" y="5340096"/>
            <a:ext cx="7360920" cy="594360"/>
          </a:xfrm>
          <a:prstGeom prst="roundRect">
            <a:avLst>
              <a:gd name="adj" fmla="val 9000"/>
            </a:avLst>
          </a:prstGeom>
          <a:solidFill>
            <a:srgbClr val="111828"/>
          </a:solidFill>
          <a:ln w="889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94944" y="5500116"/>
            <a:ext cx="274320" cy="274320"/>
          </a:xfrm>
          <a:prstGeom prst="ellipse">
            <a:avLst/>
          </a:prstGeom>
          <a:solidFill>
            <a:srgbClr val="FB6767">
              <a:alpha val="16000"/>
            </a:srgbClr>
          </a:solidFill>
          <a:ln w="12700">
            <a:solidFill>
              <a:srgbClr val="FB67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B6767"/>
                </a:solidFill>
                <a:latin typeface="Segoe UI"/>
              </a:rPr>
              <a:t>7</a:t>
            </a:r>
          </a:p>
        </p:txBody>
      </p:sp>
      <p:sp>
        <p:nvSpPr>
          <p:cNvPr id="33" name="TextBox 32"/>
          <p:cNvSpPr txBox="1"/>
          <p:nvPr/>
        </p:nvSpPr>
        <p:spPr>
          <a:xfrm>
            <a:off x="1097280" y="5394960"/>
            <a:ext cx="2880360" cy="548640"/>
          </a:xfrm>
          <a:prstGeom prst="rect">
            <a:avLst/>
          </a:prstGeom>
          <a:noFill/>
        </p:spPr>
        <p:txBody>
          <a:bodyPr wrap="square" lIns="0" tIns="0" rIns="0" bIns="0" anchor="ctr">
            <a:spAutoFit/>
          </a:bodyPr>
          <a:lstStyle/>
          <a:p>
            <a:pPr algn="l">
              <a:lnSpc>
                <a:spcPct val="100000"/>
              </a:lnSpc>
              <a:spcBef>
                <a:spcPts val="0"/>
              </a:spcBef>
              <a:spcAft>
                <a:spcPts val="200"/>
              </a:spcAft>
            </a:pPr>
            <a:r>
              <a:rPr sz="1050" b="1" i="0">
                <a:solidFill>
                  <a:srgbClr val="EDF1F8"/>
                </a:solidFill>
                <a:latin typeface="Segoe UI"/>
              </a:rPr>
              <a:t>Tranh suất &amp; xung đột trạng thái</a:t>
            </a:r>
          </a:p>
        </p:txBody>
      </p:sp>
      <p:sp>
        <p:nvSpPr>
          <p:cNvPr id="34" name="TextBox 33"/>
          <p:cNvSpPr txBox="1"/>
          <p:nvPr/>
        </p:nvSpPr>
        <p:spPr>
          <a:xfrm>
            <a:off x="3995928" y="5394960"/>
            <a:ext cx="3840480" cy="548640"/>
          </a:xfrm>
          <a:prstGeom prst="rect">
            <a:avLst/>
          </a:prstGeom>
          <a:noFill/>
        </p:spPr>
        <p:txBody>
          <a:bodyPr wrap="square" lIns="0" tIns="0" rIns="0" bIns="0" anchor="ctr">
            <a:spAutoFit/>
          </a:bodyPr>
          <a:lstStyle/>
          <a:p>
            <a:pPr algn="l">
              <a:lnSpc>
                <a:spcPct val="108000"/>
              </a:lnSpc>
              <a:spcBef>
                <a:spcPts val="0"/>
              </a:spcBef>
              <a:spcAft>
                <a:spcPts val="200"/>
              </a:spcAft>
            </a:pPr>
            <a:r>
              <a:rPr sz="950" b="0" i="0">
                <a:solidFill>
                  <a:srgbClr val="93A1B8"/>
                </a:solidFill>
                <a:latin typeface="Segoe UI"/>
              </a:rPr>
              <a:t>khoá hàng campaign + version check; oversell = 0, transition sai → 409</a:t>
            </a:r>
          </a:p>
        </p:txBody>
      </p:sp>
      <p:sp>
        <p:nvSpPr>
          <p:cNvPr id="35" name="Rounded Rectangle 34"/>
          <p:cNvSpPr/>
          <p:nvPr/>
        </p:nvSpPr>
        <p:spPr>
          <a:xfrm>
            <a:off x="8138160" y="1779647"/>
            <a:ext cx="3611880" cy="2338585"/>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138160" y="1779647"/>
            <a:ext cx="54864" cy="2338585"/>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38160" y="4498848"/>
            <a:ext cx="3611880" cy="274320"/>
          </a:xfrm>
          <a:prstGeom prst="rect">
            <a:avLst/>
          </a:prstGeom>
          <a:noFill/>
        </p:spPr>
        <p:txBody>
          <a:bodyPr wrap="square" lIns="0" tIns="0" rIns="0" bIns="0" anchor="t">
            <a:spAutoFit/>
          </a:bodyPr>
          <a:lstStyle/>
          <a:p>
            <a:pPr algn="ctr">
              <a:lnSpc>
                <a:spcPct val="100000"/>
              </a:lnSpc>
              <a:spcBef>
                <a:spcPts val="0"/>
              </a:spcBef>
              <a:spcAft>
                <a:spcPts val="200"/>
              </a:spcAft>
            </a:pPr>
            <a:r>
              <a:rPr sz="950" b="0" i="1">
                <a:solidFill>
                  <a:srgbClr val="5F6E86"/>
                </a:solidFill>
                <a:latin typeface="Segoe UI"/>
              </a:rPr>
              <a:t>Bàn tài chính — payout 3 kết cục an toàn</a:t>
            </a:r>
          </a:p>
        </p:txBody>
      </p:sp>
      <p:sp>
        <p:nvSpPr>
          <p:cNvPr id="39" name="Rounded Rectangle 38"/>
          <p:cNvSpPr/>
          <p:nvPr/>
        </p:nvSpPr>
        <p:spPr>
          <a:xfrm>
            <a:off x="8138160" y="4892040"/>
            <a:ext cx="3611880" cy="1234440"/>
          </a:xfrm>
          <a:prstGeom prst="roundRect">
            <a:avLst>
              <a:gd name="adj" fmla="val 9000"/>
            </a:avLst>
          </a:prstGeom>
          <a:solidFill>
            <a:srgbClr val="172033"/>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21040" y="5029200"/>
            <a:ext cx="3291840" cy="274320"/>
          </a:xfrm>
          <a:prstGeom prst="rect">
            <a:avLst/>
          </a:prstGeom>
          <a:noFill/>
        </p:spPr>
        <p:txBody>
          <a:bodyPr wrap="square" lIns="0" tIns="0" rIns="0" bIns="0" anchor="t">
            <a:spAutoFit/>
          </a:bodyPr>
          <a:lstStyle/>
          <a:p>
            <a:pPr algn="l">
              <a:lnSpc>
                <a:spcPct val="100000"/>
              </a:lnSpc>
              <a:spcBef>
                <a:spcPts val="0"/>
              </a:spcBef>
              <a:spcAft>
                <a:spcPts val="200"/>
              </a:spcAft>
            </a:pPr>
            <a:r>
              <a:rPr sz="950" b="1" i="0">
                <a:solidFill>
                  <a:srgbClr val="22D3EE"/>
                </a:solidFill>
                <a:latin typeface="Segoe UI"/>
              </a:rPr>
              <a:t>BẰNG CHỨNG — không phải “chạy trên máy em”</a:t>
            </a:r>
          </a:p>
        </p:txBody>
      </p:sp>
      <p:sp>
        <p:nvSpPr>
          <p:cNvPr id="41" name="TextBox 40"/>
          <p:cNvSpPr txBox="1"/>
          <p:nvPr/>
        </p:nvSpPr>
        <p:spPr>
          <a:xfrm>
            <a:off x="8321040" y="5321808"/>
            <a:ext cx="100584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35D08A"/>
                </a:solidFill>
                <a:latin typeface="Segoe UI"/>
              </a:rPr>
              <a:t>105/105</a:t>
            </a:r>
          </a:p>
        </p:txBody>
      </p:sp>
      <p:sp>
        <p:nvSpPr>
          <p:cNvPr id="42" name="TextBox 41"/>
          <p:cNvSpPr txBox="1"/>
          <p:nvPr/>
        </p:nvSpPr>
        <p:spPr>
          <a:xfrm>
            <a:off x="9326880" y="5340096"/>
            <a:ext cx="2331720" cy="32004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test xanh trên Go: 105 legacy + 13 differential Nest↔Go (gồm RACE 4 điểm bắt buộc)</a:t>
            </a:r>
          </a:p>
        </p:txBody>
      </p:sp>
      <p:sp>
        <p:nvSpPr>
          <p:cNvPr id="43" name="TextBox 42"/>
          <p:cNvSpPr txBox="1"/>
          <p:nvPr/>
        </p:nvSpPr>
        <p:spPr>
          <a:xfrm>
            <a:off x="8321040" y="5705856"/>
            <a:ext cx="100584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35D08A"/>
                </a:solidFill>
                <a:latin typeface="Segoe UI"/>
              </a:rPr>
              <a:t>25/25</a:t>
            </a:r>
          </a:p>
        </p:txBody>
      </p:sp>
      <p:sp>
        <p:nvSpPr>
          <p:cNvPr id="44" name="TextBox 43"/>
          <p:cNvSpPr txBox="1"/>
          <p:nvPr/>
        </p:nvSpPr>
        <p:spPr>
          <a:xfrm>
            <a:off x="9326880" y="5724144"/>
            <a:ext cx="2331720" cy="32004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E2E Playwright trên Go — toàn luồng tiền + 7 spec /portal</a:t>
            </a:r>
          </a:p>
        </p:txBody>
      </p:sp>
      <p:sp>
        <p:nvSpPr>
          <p:cNvPr id="45" name="TextBox 44"/>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Chi tiết + code chứng minh: docs/HARD_PROBLEMS.md</a:t>
            </a:r>
          </a:p>
        </p:txBody>
      </p:sp>
      <p:sp>
        <p:nvSpPr>
          <p:cNvPr id="46" name="TextBox 45"/>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06 / 08</a:t>
            </a:r>
          </a:p>
        </p:txBody>
      </p:sp>
      <p:pic>
        <p:nvPicPr>
          <p:cNvPr id="47" name="Picture 46" descr="shot-finance.png"/>
          <p:cNvPicPr>
            <a:picLocks noChangeAspect="1"/>
          </p:cNvPicPr>
          <p:nvPr/>
        </p:nvPicPr>
        <p:blipFill>
          <a:blip r:embed="rId2"/>
          <a:stretch>
            <a:fillRect/>
          </a:stretch>
        </p:blipFill>
        <p:spPr>
          <a:xfrm>
            <a:off x="8193024" y="1834511"/>
            <a:ext cx="3502152" cy="222885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1828800"/>
            <a:ext cx="5486400" cy="4572000"/>
          </a:xfrm>
          <a:prstGeom prst="ellipse">
            <a:avLst/>
          </a:prstGeom>
          <a:solidFill>
            <a:srgbClr val="35D08A">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35D08A"/>
                </a:solidFill>
                <a:latin typeface="Segoe UI"/>
              </a:rPr>
              <a:t>BƯỚC 5 · TRIỂN KHAI</a:t>
            </a:r>
          </a:p>
        </p:txBody>
      </p:sp>
      <p:sp>
        <p:nvSpPr>
          <p:cNvPr id="6" name="TextBox 5"/>
          <p:cNvSpPr txBox="1"/>
          <p:nvPr/>
        </p:nvSpPr>
        <p:spPr>
          <a:xfrm>
            <a:off x="566928" y="749808"/>
            <a:ext cx="11064240" cy="82296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EDF1F8"/>
                </a:solidFill>
                <a:latin typeface="Segoe UI"/>
              </a:rPr>
              <a:t>Bảng điều khiển riêng cho từng vai — chạy thật, responsive</a:t>
            </a:r>
          </a:p>
        </p:txBody>
      </p:sp>
      <p:sp>
        <p:nvSpPr>
          <p:cNvPr id="7" name="Rounded Rectangle 6"/>
          <p:cNvSpPr/>
          <p:nvPr/>
        </p:nvSpPr>
        <p:spPr>
          <a:xfrm>
            <a:off x="753477" y="1371600"/>
            <a:ext cx="3160538" cy="2606040"/>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3477" y="1371600"/>
            <a:ext cx="54864" cy="2606040"/>
          </a:xfrm>
          <a:prstGeom prst="rect">
            <a:avLst/>
          </a:prstGeom>
          <a:solidFill>
            <a:srgbClr val="6E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3995927"/>
            <a:ext cx="3442197" cy="274320"/>
          </a:xfrm>
          <a:prstGeom prst="rect">
            <a:avLst/>
          </a:prstGeom>
          <a:noFill/>
        </p:spPr>
        <p:txBody>
          <a:bodyPr wrap="square" lIns="0" tIns="0" rIns="0" bIns="0" anchor="t">
            <a:spAutoFit/>
          </a:bodyPr>
          <a:lstStyle/>
          <a:p>
            <a:pPr algn="ctr">
              <a:lnSpc>
                <a:spcPct val="100000"/>
              </a:lnSpc>
              <a:spcBef>
                <a:spcPts val="0"/>
              </a:spcBef>
              <a:spcAft>
                <a:spcPts val="200"/>
              </a:spcAft>
            </a:pPr>
            <a:r>
              <a:rPr sz="1100" b="1" i="0">
                <a:solidFill>
                  <a:srgbClr val="EDF1F8"/>
                </a:solidFill>
                <a:latin typeface="Segoe UI"/>
              </a:rPr>
              <a:t>Cổng vào</a:t>
            </a:r>
          </a:p>
        </p:txBody>
      </p:sp>
      <p:sp>
        <p:nvSpPr>
          <p:cNvPr id="11" name="TextBox 10"/>
          <p:cNvSpPr txBox="1"/>
          <p:nvPr/>
        </p:nvSpPr>
        <p:spPr>
          <a:xfrm>
            <a:off x="612648" y="4270248"/>
            <a:ext cx="3442197" cy="365760"/>
          </a:xfrm>
          <a:prstGeom prst="rect">
            <a:avLst/>
          </a:prstGeom>
          <a:noFill/>
        </p:spPr>
        <p:txBody>
          <a:bodyPr wrap="square" lIns="0" tIns="0" rIns="0" bIns="0" anchor="t">
            <a:spAutoFit/>
          </a:bodyPr>
          <a:lstStyle/>
          <a:p>
            <a:pPr algn="ctr">
              <a:lnSpc>
                <a:spcPct val="105000"/>
              </a:lnSpc>
              <a:spcBef>
                <a:spcPts val="0"/>
              </a:spcBef>
              <a:spcAft>
                <a:spcPts val="200"/>
              </a:spcAft>
            </a:pPr>
            <a:r>
              <a:rPr sz="900" b="0" i="0">
                <a:solidFill>
                  <a:srgbClr val="93A1B8"/>
                </a:solidFill>
                <a:latin typeface="Segoe UI"/>
              </a:rPr>
              <a:t>Chọn vai để vào đúng bảng điều khiển</a:t>
            </a:r>
          </a:p>
        </p:txBody>
      </p:sp>
      <p:sp>
        <p:nvSpPr>
          <p:cNvPr id="12" name="Rounded Rectangle 11"/>
          <p:cNvSpPr/>
          <p:nvPr/>
        </p:nvSpPr>
        <p:spPr>
          <a:xfrm>
            <a:off x="4329165" y="1500088"/>
            <a:ext cx="3533637" cy="2349062"/>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29165" y="1500088"/>
            <a:ext cx="54864" cy="234906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4885" y="3995927"/>
            <a:ext cx="3442197" cy="274320"/>
          </a:xfrm>
          <a:prstGeom prst="rect">
            <a:avLst/>
          </a:prstGeom>
          <a:noFill/>
        </p:spPr>
        <p:txBody>
          <a:bodyPr wrap="square" lIns="0" tIns="0" rIns="0" bIns="0" anchor="t">
            <a:spAutoFit/>
          </a:bodyPr>
          <a:lstStyle/>
          <a:p>
            <a:pPr algn="ctr">
              <a:lnSpc>
                <a:spcPct val="100000"/>
              </a:lnSpc>
              <a:spcBef>
                <a:spcPts val="0"/>
              </a:spcBef>
              <a:spcAft>
                <a:spcPts val="200"/>
              </a:spcAft>
            </a:pPr>
            <a:r>
              <a:rPr sz="1100" b="1" i="0">
                <a:solidFill>
                  <a:srgbClr val="EDF1F8"/>
                </a:solidFill>
                <a:latin typeface="Segoe UI"/>
              </a:rPr>
              <a:t>Local Admin</a:t>
            </a:r>
          </a:p>
        </p:txBody>
      </p:sp>
      <p:sp>
        <p:nvSpPr>
          <p:cNvPr id="16" name="TextBox 15"/>
          <p:cNvSpPr txBox="1"/>
          <p:nvPr/>
        </p:nvSpPr>
        <p:spPr>
          <a:xfrm>
            <a:off x="4374885" y="4270248"/>
            <a:ext cx="3442197" cy="365760"/>
          </a:xfrm>
          <a:prstGeom prst="rect">
            <a:avLst/>
          </a:prstGeom>
          <a:noFill/>
        </p:spPr>
        <p:txBody>
          <a:bodyPr wrap="square" lIns="0" tIns="0" rIns="0" bIns="0" anchor="t">
            <a:spAutoFit/>
          </a:bodyPr>
          <a:lstStyle/>
          <a:p>
            <a:pPr algn="ctr">
              <a:lnSpc>
                <a:spcPct val="105000"/>
              </a:lnSpc>
              <a:spcBef>
                <a:spcPts val="0"/>
              </a:spcBef>
              <a:spcAft>
                <a:spcPts val="200"/>
              </a:spcAft>
            </a:pPr>
            <a:r>
              <a:rPr sz="900" b="0" i="0">
                <a:solidFill>
                  <a:srgbClr val="93A1B8"/>
                </a:solidFill>
                <a:latin typeface="Segoe UI"/>
              </a:rPr>
              <a:t>Builder: thưởng 3 trục · ngân sách = suất × giá (live)</a:t>
            </a:r>
          </a:p>
        </p:txBody>
      </p:sp>
      <p:sp>
        <p:nvSpPr>
          <p:cNvPr id="17" name="Rounded Rectangle 16"/>
          <p:cNvSpPr/>
          <p:nvPr/>
        </p:nvSpPr>
        <p:spPr>
          <a:xfrm>
            <a:off x="8091403" y="1530224"/>
            <a:ext cx="3533637" cy="2288790"/>
          </a:xfrm>
          <a:prstGeom prst="roundRect">
            <a:avLst>
              <a:gd name="adj" fmla="val 4000"/>
            </a:avLst>
          </a:prstGeom>
          <a:solidFill>
            <a:srgbClr val="1C2740"/>
          </a:solidFill>
          <a:ln w="1270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1403" y="1530224"/>
            <a:ext cx="54864" cy="2288790"/>
          </a:xfrm>
          <a:prstGeom prst="rect">
            <a:avLst/>
          </a:prstGeom>
          <a:solidFill>
            <a:srgbClr val="F6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7123" y="3995927"/>
            <a:ext cx="3442197" cy="274320"/>
          </a:xfrm>
          <a:prstGeom prst="rect">
            <a:avLst/>
          </a:prstGeom>
          <a:noFill/>
        </p:spPr>
        <p:txBody>
          <a:bodyPr wrap="square" lIns="0" tIns="0" rIns="0" bIns="0" anchor="t">
            <a:spAutoFit/>
          </a:bodyPr>
          <a:lstStyle/>
          <a:p>
            <a:pPr algn="ctr">
              <a:lnSpc>
                <a:spcPct val="100000"/>
              </a:lnSpc>
              <a:spcBef>
                <a:spcPts val="0"/>
              </a:spcBef>
              <a:spcAft>
                <a:spcPts val="200"/>
              </a:spcAft>
            </a:pPr>
            <a:r>
              <a:rPr sz="1100" b="1" i="0">
                <a:solidFill>
                  <a:srgbClr val="EDF1F8"/>
                </a:solidFill>
                <a:latin typeface="Segoe UI"/>
              </a:rPr>
              <a:t>Global Admin</a:t>
            </a:r>
          </a:p>
        </p:txBody>
      </p:sp>
      <p:sp>
        <p:nvSpPr>
          <p:cNvPr id="21" name="TextBox 20"/>
          <p:cNvSpPr txBox="1"/>
          <p:nvPr/>
        </p:nvSpPr>
        <p:spPr>
          <a:xfrm>
            <a:off x="8137123" y="4270248"/>
            <a:ext cx="3442197" cy="365760"/>
          </a:xfrm>
          <a:prstGeom prst="rect">
            <a:avLst/>
          </a:prstGeom>
          <a:noFill/>
        </p:spPr>
        <p:txBody>
          <a:bodyPr wrap="square" lIns="0" tIns="0" rIns="0" bIns="0" anchor="t">
            <a:spAutoFit/>
          </a:bodyPr>
          <a:lstStyle/>
          <a:p>
            <a:pPr algn="ctr">
              <a:lnSpc>
                <a:spcPct val="105000"/>
              </a:lnSpc>
              <a:spcBef>
                <a:spcPts val="0"/>
              </a:spcBef>
              <a:spcAft>
                <a:spcPts val="200"/>
              </a:spcAft>
            </a:pPr>
            <a:r>
              <a:rPr sz="900" b="0" i="0">
                <a:solidFill>
                  <a:srgbClr val="93A1B8"/>
                </a:solidFill>
                <a:latin typeface="Segoe UI"/>
              </a:rPr>
              <a:t>Toàn cục: hai nước cạnh nhau, không cộng gộp</a:t>
            </a:r>
          </a:p>
        </p:txBody>
      </p:sp>
      <p:sp>
        <p:nvSpPr>
          <p:cNvPr id="22" name="TextBox 21"/>
          <p:cNvSpPr txBox="1"/>
          <p:nvPr/>
        </p:nvSpPr>
        <p:spPr>
          <a:xfrm>
            <a:off x="566928" y="4690872"/>
            <a:ext cx="6400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5D08A"/>
                </a:solidFill>
                <a:latin typeface="Segoe UI"/>
              </a:rPr>
              <a:t>TIẾN ĐỘ PHASE 1</a:t>
            </a:r>
          </a:p>
        </p:txBody>
      </p:sp>
      <p:sp>
        <p:nvSpPr>
          <p:cNvPr id="23" name="TextBox 22"/>
          <p:cNvSpPr txBox="1"/>
          <p:nvPr/>
        </p:nvSpPr>
        <p:spPr>
          <a:xfrm>
            <a:off x="566928" y="4983480"/>
            <a:ext cx="402336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0" i="0">
                <a:solidFill>
                  <a:srgbClr val="93A1B8"/>
                </a:solidFill>
                <a:latin typeface="Segoe UI"/>
              </a:rPr>
              <a:t>Luồng tiền E2E (VN + PH)</a:t>
            </a:r>
          </a:p>
        </p:txBody>
      </p:sp>
      <p:sp>
        <p:nvSpPr>
          <p:cNvPr id="24" name="Rounded Rectangle 23"/>
          <p:cNvSpPr/>
          <p:nvPr/>
        </p:nvSpPr>
        <p:spPr>
          <a:xfrm>
            <a:off x="4681728" y="5038344"/>
            <a:ext cx="1828800" cy="146304"/>
          </a:xfrm>
          <a:prstGeom prst="roundRect">
            <a:avLst>
              <a:gd name="adj" fmla="val 50000"/>
            </a:avLst>
          </a:prstGeom>
          <a:solidFill>
            <a:srgbClr val="172033"/>
          </a:solidFill>
          <a:ln w="635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681728" y="5038344"/>
            <a:ext cx="1828800" cy="146304"/>
          </a:xfrm>
          <a:prstGeom prst="roundRect">
            <a:avLst>
              <a:gd name="adj" fmla="val 50000"/>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01968" y="4983480"/>
            <a:ext cx="54864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35D08A"/>
                </a:solidFill>
                <a:latin typeface="Segoe UI"/>
              </a:rPr>
              <a:t>100%</a:t>
            </a:r>
          </a:p>
        </p:txBody>
      </p:sp>
      <p:sp>
        <p:nvSpPr>
          <p:cNvPr id="27" name="TextBox 26"/>
          <p:cNvSpPr txBox="1"/>
          <p:nvPr/>
        </p:nvSpPr>
        <p:spPr>
          <a:xfrm>
            <a:off x="566928" y="5285232"/>
            <a:ext cx="402336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0" i="0">
                <a:solidFill>
                  <a:srgbClr val="93A1B8"/>
                </a:solidFill>
                <a:latin typeface="Segoe UI"/>
              </a:rPr>
              <a:t>5 dashboard theo vai · UI thật</a:t>
            </a:r>
          </a:p>
        </p:txBody>
      </p:sp>
      <p:sp>
        <p:nvSpPr>
          <p:cNvPr id="28" name="Rounded Rectangle 27"/>
          <p:cNvSpPr/>
          <p:nvPr/>
        </p:nvSpPr>
        <p:spPr>
          <a:xfrm>
            <a:off x="4681728" y="5340096"/>
            <a:ext cx="1828800" cy="146304"/>
          </a:xfrm>
          <a:prstGeom prst="roundRect">
            <a:avLst>
              <a:gd name="adj" fmla="val 50000"/>
            </a:avLst>
          </a:prstGeom>
          <a:solidFill>
            <a:srgbClr val="172033"/>
          </a:solidFill>
          <a:ln w="635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681728" y="5340096"/>
            <a:ext cx="1828800" cy="146304"/>
          </a:xfrm>
          <a:prstGeom prst="roundRect">
            <a:avLst>
              <a:gd name="adj" fmla="val 50000"/>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01968" y="5285232"/>
            <a:ext cx="54864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35D08A"/>
                </a:solidFill>
                <a:latin typeface="Segoe UI"/>
              </a:rPr>
              <a:t>100%</a:t>
            </a:r>
          </a:p>
        </p:txBody>
      </p:sp>
      <p:sp>
        <p:nvSpPr>
          <p:cNvPr id="31" name="TextBox 30"/>
          <p:cNvSpPr txBox="1"/>
          <p:nvPr/>
        </p:nvSpPr>
        <p:spPr>
          <a:xfrm>
            <a:off x="566928" y="5586984"/>
            <a:ext cx="402336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0" i="0">
                <a:solidFill>
                  <a:srgbClr val="93A1B8"/>
                </a:solidFill>
                <a:latin typeface="Segoe UI"/>
              </a:rPr>
              <a:t>Kiểm thử tự động (API + E2E)</a:t>
            </a:r>
          </a:p>
        </p:txBody>
      </p:sp>
      <p:sp>
        <p:nvSpPr>
          <p:cNvPr id="32" name="Rounded Rectangle 31"/>
          <p:cNvSpPr/>
          <p:nvPr/>
        </p:nvSpPr>
        <p:spPr>
          <a:xfrm>
            <a:off x="4681728" y="5641848"/>
            <a:ext cx="1828800" cy="146304"/>
          </a:xfrm>
          <a:prstGeom prst="roundRect">
            <a:avLst>
              <a:gd name="adj" fmla="val 50000"/>
            </a:avLst>
          </a:prstGeom>
          <a:solidFill>
            <a:srgbClr val="172033"/>
          </a:solidFill>
          <a:ln w="635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681728" y="5641848"/>
            <a:ext cx="1828800" cy="146304"/>
          </a:xfrm>
          <a:prstGeom prst="roundRect">
            <a:avLst>
              <a:gd name="adj" fmla="val 50000"/>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01968" y="5586984"/>
            <a:ext cx="54864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35D08A"/>
                </a:solidFill>
                <a:latin typeface="Segoe UI"/>
              </a:rPr>
              <a:t>100%</a:t>
            </a:r>
          </a:p>
        </p:txBody>
      </p:sp>
      <p:sp>
        <p:nvSpPr>
          <p:cNvPr id="35" name="TextBox 34"/>
          <p:cNvSpPr txBox="1"/>
          <p:nvPr/>
        </p:nvSpPr>
        <p:spPr>
          <a:xfrm>
            <a:off x="566928" y="5888736"/>
            <a:ext cx="402336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0" i="0">
                <a:solidFill>
                  <a:srgbClr val="93A1B8"/>
                </a:solidFill>
                <a:latin typeface="Segoe UI"/>
              </a:rPr>
              <a:t>i18n vi/en · USD tham chiếu · responsive</a:t>
            </a:r>
          </a:p>
        </p:txBody>
      </p:sp>
      <p:sp>
        <p:nvSpPr>
          <p:cNvPr id="36" name="Rounded Rectangle 35"/>
          <p:cNvSpPr/>
          <p:nvPr/>
        </p:nvSpPr>
        <p:spPr>
          <a:xfrm>
            <a:off x="4681728" y="5943600"/>
            <a:ext cx="1828800" cy="146304"/>
          </a:xfrm>
          <a:prstGeom prst="roundRect">
            <a:avLst>
              <a:gd name="adj" fmla="val 50000"/>
            </a:avLst>
          </a:prstGeom>
          <a:solidFill>
            <a:srgbClr val="172033"/>
          </a:solidFill>
          <a:ln w="635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681728" y="5943600"/>
            <a:ext cx="1737360" cy="14630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01968" y="5888736"/>
            <a:ext cx="54864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22D3EE"/>
                </a:solidFill>
                <a:latin typeface="Segoe UI"/>
              </a:rPr>
              <a:t>95%</a:t>
            </a:r>
          </a:p>
        </p:txBody>
      </p:sp>
      <p:sp>
        <p:nvSpPr>
          <p:cNvPr id="39" name="TextBox 38"/>
          <p:cNvSpPr txBox="1"/>
          <p:nvPr/>
        </p:nvSpPr>
        <p:spPr>
          <a:xfrm>
            <a:off x="566928" y="6190488"/>
            <a:ext cx="402336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0" i="0">
                <a:solidFill>
                  <a:srgbClr val="93A1B8"/>
                </a:solidFill>
                <a:latin typeface="Segoe UI"/>
              </a:rPr>
              <a:t>Thu phí · Escrow · Apply-flow (thiết kế)</a:t>
            </a:r>
          </a:p>
        </p:txBody>
      </p:sp>
      <p:sp>
        <p:nvSpPr>
          <p:cNvPr id="40" name="Rounded Rectangle 39"/>
          <p:cNvSpPr/>
          <p:nvPr/>
        </p:nvSpPr>
        <p:spPr>
          <a:xfrm>
            <a:off x="4681728" y="6245352"/>
            <a:ext cx="1828800" cy="146304"/>
          </a:xfrm>
          <a:prstGeom prst="roundRect">
            <a:avLst>
              <a:gd name="adj" fmla="val 50000"/>
            </a:avLst>
          </a:prstGeom>
          <a:solidFill>
            <a:srgbClr val="172033"/>
          </a:solidFill>
          <a:ln w="635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4681728" y="6245352"/>
            <a:ext cx="731520" cy="146304"/>
          </a:xfrm>
          <a:prstGeom prst="roundRect">
            <a:avLst>
              <a:gd name="adj" fmla="val 50000"/>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01968" y="6190488"/>
            <a:ext cx="548640" cy="256032"/>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F5B342"/>
                </a:solidFill>
                <a:latin typeface="Segoe UI"/>
              </a:rPr>
              <a:t>40%</a:t>
            </a:r>
          </a:p>
        </p:txBody>
      </p:sp>
      <p:sp>
        <p:nvSpPr>
          <p:cNvPr id="43" name="Rounded Rectangle 42"/>
          <p:cNvSpPr/>
          <p:nvPr/>
        </p:nvSpPr>
        <p:spPr>
          <a:xfrm>
            <a:off x="6949440" y="4965192"/>
            <a:ext cx="2423160" cy="603504"/>
          </a:xfrm>
          <a:prstGeom prst="roundRect">
            <a:avLst>
              <a:gd name="adj" fmla="val 12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949440" y="4965192"/>
            <a:ext cx="45720" cy="603504"/>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132320" y="5038344"/>
            <a:ext cx="2103120" cy="320040"/>
          </a:xfrm>
          <a:prstGeom prst="rect">
            <a:avLst/>
          </a:prstGeom>
          <a:noFill/>
        </p:spPr>
        <p:txBody>
          <a:bodyPr wrap="square" lIns="0" tIns="0" rIns="0" bIns="0" anchor="t">
            <a:spAutoFit/>
          </a:bodyPr>
          <a:lstStyle/>
          <a:p>
            <a:pPr algn="l">
              <a:lnSpc>
                <a:spcPct val="100000"/>
              </a:lnSpc>
              <a:spcBef>
                <a:spcPts val="0"/>
              </a:spcBef>
              <a:spcAft>
                <a:spcPts val="200"/>
              </a:spcAft>
            </a:pPr>
            <a:r>
              <a:rPr sz="1600" b="1" i="0">
                <a:solidFill>
                  <a:srgbClr val="35D08A"/>
                </a:solidFill>
                <a:latin typeface="Segoe UI"/>
              </a:rPr>
              <a:t>105/105</a:t>
            </a:r>
          </a:p>
        </p:txBody>
      </p:sp>
      <p:sp>
        <p:nvSpPr>
          <p:cNvPr id="46" name="TextBox 45"/>
          <p:cNvSpPr txBox="1"/>
          <p:nvPr/>
        </p:nvSpPr>
        <p:spPr>
          <a:xfrm>
            <a:off x="7132320" y="5349240"/>
            <a:ext cx="2103120" cy="201168"/>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API tests xanh</a:t>
            </a:r>
          </a:p>
        </p:txBody>
      </p:sp>
      <p:sp>
        <p:nvSpPr>
          <p:cNvPr id="47" name="Rounded Rectangle 46"/>
          <p:cNvSpPr/>
          <p:nvPr/>
        </p:nvSpPr>
        <p:spPr>
          <a:xfrm>
            <a:off x="9555480" y="4965192"/>
            <a:ext cx="2423160" cy="603504"/>
          </a:xfrm>
          <a:prstGeom prst="roundRect">
            <a:avLst>
              <a:gd name="adj" fmla="val 12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555480" y="4965192"/>
            <a:ext cx="45720" cy="6035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38359" y="5038344"/>
            <a:ext cx="2103120" cy="320040"/>
          </a:xfrm>
          <a:prstGeom prst="rect">
            <a:avLst/>
          </a:prstGeom>
          <a:noFill/>
        </p:spPr>
        <p:txBody>
          <a:bodyPr wrap="square" lIns="0" tIns="0" rIns="0" bIns="0" anchor="t">
            <a:spAutoFit/>
          </a:bodyPr>
          <a:lstStyle/>
          <a:p>
            <a:pPr algn="l">
              <a:lnSpc>
                <a:spcPct val="100000"/>
              </a:lnSpc>
              <a:spcBef>
                <a:spcPts val="0"/>
              </a:spcBef>
              <a:spcAft>
                <a:spcPts val="200"/>
              </a:spcAft>
            </a:pPr>
            <a:r>
              <a:rPr sz="1600" b="1" i="0">
                <a:solidFill>
                  <a:srgbClr val="22D3EE"/>
                </a:solidFill>
                <a:latin typeface="Segoe UI"/>
              </a:rPr>
              <a:t>25/25</a:t>
            </a:r>
          </a:p>
        </p:txBody>
      </p:sp>
      <p:sp>
        <p:nvSpPr>
          <p:cNvPr id="50" name="TextBox 49"/>
          <p:cNvSpPr txBox="1"/>
          <p:nvPr/>
        </p:nvSpPr>
        <p:spPr>
          <a:xfrm>
            <a:off x="9738359" y="5349240"/>
            <a:ext cx="2103120" cy="201168"/>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E2E Playwright</a:t>
            </a:r>
          </a:p>
        </p:txBody>
      </p:sp>
      <p:sp>
        <p:nvSpPr>
          <p:cNvPr id="51" name="Rounded Rectangle 50"/>
          <p:cNvSpPr/>
          <p:nvPr/>
        </p:nvSpPr>
        <p:spPr>
          <a:xfrm>
            <a:off x="6949440" y="5678424"/>
            <a:ext cx="2423160" cy="603504"/>
          </a:xfrm>
          <a:prstGeom prst="roundRect">
            <a:avLst>
              <a:gd name="adj" fmla="val 12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949440" y="5678424"/>
            <a:ext cx="45720" cy="603504"/>
          </a:xfrm>
          <a:prstGeom prst="rect">
            <a:avLst/>
          </a:prstGeom>
          <a:solidFill>
            <a:srgbClr val="5A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32320" y="5751576"/>
            <a:ext cx="2103120" cy="320040"/>
          </a:xfrm>
          <a:prstGeom prst="rect">
            <a:avLst/>
          </a:prstGeom>
          <a:noFill/>
        </p:spPr>
        <p:txBody>
          <a:bodyPr wrap="square" lIns="0" tIns="0" rIns="0" bIns="0" anchor="t">
            <a:spAutoFit/>
          </a:bodyPr>
          <a:lstStyle/>
          <a:p>
            <a:pPr algn="l">
              <a:lnSpc>
                <a:spcPct val="100000"/>
              </a:lnSpc>
              <a:spcBef>
                <a:spcPts val="0"/>
              </a:spcBef>
              <a:spcAft>
                <a:spcPts val="200"/>
              </a:spcAft>
            </a:pPr>
            <a:r>
              <a:rPr sz="1600" b="1" i="0">
                <a:solidFill>
                  <a:srgbClr val="5AB0F0"/>
                </a:solidFill>
                <a:latin typeface="Segoe UI"/>
              </a:rPr>
              <a:t>18</a:t>
            </a:r>
          </a:p>
        </p:txBody>
      </p:sp>
      <p:sp>
        <p:nvSpPr>
          <p:cNvPr id="54" name="TextBox 53"/>
          <p:cNvSpPr txBox="1"/>
          <p:nvPr/>
        </p:nvSpPr>
        <p:spPr>
          <a:xfrm>
            <a:off x="7132320" y="6062472"/>
            <a:ext cx="2103120" cy="201168"/>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bảng schema lean</a:t>
            </a:r>
          </a:p>
        </p:txBody>
      </p:sp>
      <p:sp>
        <p:nvSpPr>
          <p:cNvPr id="55" name="Rounded Rectangle 54"/>
          <p:cNvSpPr/>
          <p:nvPr/>
        </p:nvSpPr>
        <p:spPr>
          <a:xfrm>
            <a:off x="9555480" y="5678424"/>
            <a:ext cx="2423160" cy="603504"/>
          </a:xfrm>
          <a:prstGeom prst="roundRect">
            <a:avLst>
              <a:gd name="adj" fmla="val 12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555480" y="5678424"/>
            <a:ext cx="45720" cy="603504"/>
          </a:xfrm>
          <a:prstGeom prst="rect">
            <a:avLst/>
          </a:prstGeom>
          <a:solidFill>
            <a:srgbClr val="B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738359" y="5751576"/>
            <a:ext cx="2103120" cy="320040"/>
          </a:xfrm>
          <a:prstGeom prst="rect">
            <a:avLst/>
          </a:prstGeom>
          <a:noFill/>
        </p:spPr>
        <p:txBody>
          <a:bodyPr wrap="square" lIns="0" tIns="0" rIns="0" bIns="0" anchor="t">
            <a:spAutoFit/>
          </a:bodyPr>
          <a:lstStyle/>
          <a:p>
            <a:pPr algn="l">
              <a:lnSpc>
                <a:spcPct val="100000"/>
              </a:lnSpc>
              <a:spcBef>
                <a:spcPts val="0"/>
              </a:spcBef>
              <a:spcAft>
                <a:spcPts val="200"/>
              </a:spcAft>
            </a:pPr>
            <a:r>
              <a:rPr sz="1600" b="1" i="0">
                <a:solidFill>
                  <a:srgbClr val="B98BFF"/>
                </a:solidFill>
                <a:latin typeface="Segoe UI"/>
              </a:rPr>
              <a:t>6</a:t>
            </a:r>
          </a:p>
        </p:txBody>
      </p:sp>
      <p:sp>
        <p:nvSpPr>
          <p:cNvPr id="58" name="TextBox 57"/>
          <p:cNvSpPr txBox="1"/>
          <p:nvPr/>
        </p:nvSpPr>
        <p:spPr>
          <a:xfrm>
            <a:off x="9738359" y="6062472"/>
            <a:ext cx="2103120" cy="201168"/>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93A1B8"/>
                </a:solidFill>
                <a:latin typeface="Segoe UI"/>
              </a:rPr>
              <a:t>route /portal</a:t>
            </a:r>
          </a:p>
        </p:txBody>
      </p:sp>
      <p:sp>
        <p:nvSpPr>
          <p:cNvPr id="59" name="TextBox 58"/>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a:t>
            </a:r>
            <a:r>
              <a:rPr sz="850" b="0" i="0">
                <a:solidFill>
                  <a:srgbClr val="93A1B8"/>
                </a:solidFill>
                <a:latin typeface="Segoe UI"/>
              </a:rPr>
              <a:t>UI thật /portal · seed + docker · máy sạch chạy được</a:t>
            </a:r>
          </a:p>
        </p:txBody>
      </p:sp>
      <p:sp>
        <p:nvSpPr>
          <p:cNvPr id="60" name="TextBox 59"/>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07 / 08</a:t>
            </a:r>
          </a:p>
        </p:txBody>
      </p:sp>
      <p:pic>
        <p:nvPicPr>
          <p:cNvPr id="61" name="Picture 60" descr="shot-landing.png"/>
          <p:cNvPicPr>
            <a:picLocks noChangeAspect="1"/>
          </p:cNvPicPr>
          <p:nvPr/>
        </p:nvPicPr>
        <p:blipFill>
          <a:blip r:embed="rId2"/>
          <a:stretch>
            <a:fillRect/>
          </a:stretch>
        </p:blipFill>
        <p:spPr>
          <a:xfrm>
            <a:off x="808341" y="1426464"/>
            <a:ext cx="3050810" cy="2496312"/>
          </a:xfrm>
          <a:prstGeom prst="rect">
            <a:avLst/>
          </a:prstGeom>
        </p:spPr>
      </p:pic>
      <p:pic>
        <p:nvPicPr>
          <p:cNvPr id="62" name="Picture 61" descr="shot-admin.png"/>
          <p:cNvPicPr>
            <a:picLocks noChangeAspect="1"/>
          </p:cNvPicPr>
          <p:nvPr/>
        </p:nvPicPr>
        <p:blipFill>
          <a:blip r:embed="rId3"/>
          <a:stretch>
            <a:fillRect/>
          </a:stretch>
        </p:blipFill>
        <p:spPr>
          <a:xfrm>
            <a:off x="4384029" y="1554952"/>
            <a:ext cx="3423909" cy="2239334"/>
          </a:xfrm>
          <a:prstGeom prst="rect">
            <a:avLst/>
          </a:prstGeom>
        </p:spPr>
      </p:pic>
      <p:pic>
        <p:nvPicPr>
          <p:cNvPr id="63" name="Picture 62" descr="shot-global.png"/>
          <p:cNvPicPr>
            <a:picLocks noChangeAspect="1"/>
          </p:cNvPicPr>
          <p:nvPr/>
        </p:nvPicPr>
        <p:blipFill>
          <a:blip r:embed="rId4"/>
          <a:stretch>
            <a:fillRect/>
          </a:stretch>
        </p:blipFill>
        <p:spPr>
          <a:xfrm>
            <a:off x="8146267" y="1585088"/>
            <a:ext cx="3423909" cy="21790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gradFill rotWithShape="1">
            <a:gsLst>
              <a:gs pos="0">
                <a:srgbClr val="0D1320"/>
              </a:gs>
              <a:gs pos="100000">
                <a:srgbClr val="0A0E17"/>
              </a:gs>
            </a:gsLst>
            <a:lin ang="18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0" y="-2286000"/>
            <a:ext cx="5486400" cy="4572000"/>
          </a:xfrm>
          <a:prstGeom prst="ellipse">
            <a:avLst/>
          </a:prstGeom>
          <a:solidFill>
            <a:srgbClr val="6E7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493776"/>
            <a:ext cx="256032" cy="68580"/>
          </a:xfrm>
          <a:prstGeom prst="roundRect">
            <a:avLst>
              <a:gd name="adj" fmla="val 50000"/>
            </a:avLst>
          </a:prstGeom>
          <a:solidFill>
            <a:srgbClr val="6E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420624"/>
            <a:ext cx="9144000" cy="27432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6E7BFF"/>
                </a:solidFill>
                <a:latin typeface="Segoe UI"/>
              </a:rPr>
              <a:t>PHẠM VI &amp; LỘ TRÌNH</a:t>
            </a:r>
          </a:p>
        </p:txBody>
      </p:sp>
      <p:sp>
        <p:nvSpPr>
          <p:cNvPr id="6" name="TextBox 5"/>
          <p:cNvSpPr txBox="1"/>
          <p:nvPr/>
        </p:nvSpPr>
        <p:spPr>
          <a:xfrm>
            <a:off x="566928" y="749808"/>
            <a:ext cx="11064240" cy="400110"/>
          </a:xfrm>
          <a:prstGeom prst="rect">
            <a:avLst/>
          </a:prstGeom>
          <a:noFill/>
        </p:spPr>
        <p:txBody>
          <a:bodyPr wrap="square" lIns="0" tIns="0" rIns="0" bIns="0" anchor="t">
            <a:spAutoFit/>
          </a:bodyPr>
          <a:lstStyle/>
          <a:p>
            <a:pPr algn="l">
              <a:lnSpc>
                <a:spcPct val="100000"/>
              </a:lnSpc>
              <a:spcBef>
                <a:spcPts val="0"/>
              </a:spcBef>
              <a:spcAft>
                <a:spcPts val="200"/>
              </a:spcAft>
            </a:pPr>
            <a:r>
              <a:rPr sz="2600" b="1" i="0" dirty="0" err="1">
                <a:solidFill>
                  <a:srgbClr val="EDF1F8"/>
                </a:solidFill>
                <a:latin typeface="Segoe UI"/>
              </a:rPr>
              <a:t>Có</a:t>
            </a:r>
            <a:r>
              <a:rPr sz="2600" b="1" i="0" dirty="0">
                <a:solidFill>
                  <a:srgbClr val="EDF1F8"/>
                </a:solidFill>
                <a:latin typeface="Segoe UI"/>
              </a:rPr>
              <a:t> cover </a:t>
            </a:r>
            <a:r>
              <a:rPr sz="2600" b="1" i="0" dirty="0" err="1">
                <a:solidFill>
                  <a:srgbClr val="EDF1F8"/>
                </a:solidFill>
                <a:latin typeface="Segoe UI"/>
              </a:rPr>
              <a:t>hết</a:t>
            </a:r>
            <a:r>
              <a:rPr sz="2600" b="1" i="0" dirty="0">
                <a:solidFill>
                  <a:srgbClr val="EDF1F8"/>
                </a:solidFill>
                <a:latin typeface="Segoe UI"/>
              </a:rPr>
              <a:t> affiliate </a:t>
            </a:r>
            <a:r>
              <a:rPr sz="2600" b="1" i="0" dirty="0" err="1">
                <a:solidFill>
                  <a:srgbClr val="EDF1F8"/>
                </a:solidFill>
                <a:latin typeface="Segoe UI"/>
              </a:rPr>
              <a:t>chưa</a:t>
            </a:r>
            <a:r>
              <a:rPr sz="2600" b="1" i="0" dirty="0">
                <a:solidFill>
                  <a:srgbClr val="EDF1F8"/>
                </a:solidFill>
                <a:latin typeface="Segoe UI"/>
              </a:rPr>
              <a:t>? </a:t>
            </a:r>
          </a:p>
        </p:txBody>
      </p:sp>
      <p:sp>
        <p:nvSpPr>
          <p:cNvPr id="7" name="TextBox 6"/>
          <p:cNvSpPr txBox="1"/>
          <p:nvPr/>
        </p:nvSpPr>
        <p:spPr>
          <a:xfrm>
            <a:off x="566928" y="1298448"/>
            <a:ext cx="11064240" cy="365760"/>
          </a:xfrm>
          <a:prstGeom prst="rect">
            <a:avLst/>
          </a:prstGeom>
          <a:noFill/>
        </p:spPr>
        <p:txBody>
          <a:bodyPr wrap="square" lIns="0" tIns="0" rIns="0" bIns="0" anchor="t">
            <a:spAutoFit/>
          </a:bodyPr>
          <a:lstStyle/>
          <a:p>
            <a:pPr algn="l">
              <a:lnSpc>
                <a:spcPct val="120000"/>
              </a:lnSpc>
              <a:spcBef>
                <a:spcPts val="0"/>
              </a:spcBef>
              <a:spcAft>
                <a:spcPts val="200"/>
              </a:spcAft>
            </a:pPr>
            <a:r>
              <a:rPr sz="1150" b="0" i="0" dirty="0" err="1">
                <a:solidFill>
                  <a:srgbClr val="93A1B8"/>
                </a:solidFill>
                <a:latin typeface="Segoe UI"/>
              </a:rPr>
              <a:t>Không</a:t>
            </a:r>
            <a:r>
              <a:rPr sz="1150" b="0" i="0" dirty="0">
                <a:solidFill>
                  <a:srgbClr val="93A1B8"/>
                </a:solidFill>
                <a:latin typeface="Segoe UI"/>
              </a:rPr>
              <a:t> </a:t>
            </a:r>
            <a:r>
              <a:rPr sz="1150" b="0" i="0" dirty="0" err="1">
                <a:solidFill>
                  <a:srgbClr val="93A1B8"/>
                </a:solidFill>
                <a:latin typeface="Segoe UI"/>
              </a:rPr>
              <a:t>hứa</a:t>
            </a:r>
            <a:r>
              <a:rPr sz="1150" b="0" i="0" dirty="0">
                <a:solidFill>
                  <a:srgbClr val="93A1B8"/>
                </a:solidFill>
                <a:latin typeface="Segoe UI"/>
              </a:rPr>
              <a:t> </a:t>
            </a:r>
            <a:r>
              <a:rPr sz="1150" b="0" i="0" dirty="0" err="1">
                <a:solidFill>
                  <a:srgbClr val="93A1B8"/>
                </a:solidFill>
                <a:latin typeface="Segoe UI"/>
              </a:rPr>
              <a:t>làm</a:t>
            </a:r>
            <a:r>
              <a:rPr sz="1150" b="0" i="0" dirty="0">
                <a:solidFill>
                  <a:srgbClr val="93A1B8"/>
                </a:solidFill>
                <a:latin typeface="Segoe UI"/>
              </a:rPr>
              <a:t> </a:t>
            </a:r>
            <a:r>
              <a:rPr sz="1150" b="0" i="0" dirty="0" err="1">
                <a:solidFill>
                  <a:srgbClr val="93A1B8"/>
                </a:solidFill>
                <a:latin typeface="Segoe UI"/>
              </a:rPr>
              <a:t>hết</a:t>
            </a:r>
            <a:r>
              <a:rPr sz="1150" b="0" i="0" dirty="0">
                <a:solidFill>
                  <a:srgbClr val="93A1B8"/>
                </a:solidFill>
                <a:latin typeface="Segoe UI"/>
              </a:rPr>
              <a:t>. Nguyên </a:t>
            </a:r>
            <a:r>
              <a:rPr sz="1150" b="0" i="0" dirty="0" err="1">
                <a:solidFill>
                  <a:srgbClr val="93A1B8"/>
                </a:solidFill>
                <a:latin typeface="Segoe UI"/>
              </a:rPr>
              <a:t>tắc</a:t>
            </a:r>
            <a:r>
              <a:rPr sz="1150" b="0" i="0" dirty="0">
                <a:solidFill>
                  <a:srgbClr val="93A1B8"/>
                </a:solidFill>
                <a:latin typeface="Segoe UI"/>
              </a:rPr>
              <a:t> </a:t>
            </a:r>
            <a:r>
              <a:rPr sz="1150" b="0" i="0" dirty="0" err="1">
                <a:solidFill>
                  <a:srgbClr val="93A1B8"/>
                </a:solidFill>
                <a:latin typeface="Segoe UI"/>
              </a:rPr>
              <a:t>cắt</a:t>
            </a:r>
            <a:r>
              <a:rPr sz="1150" b="0" i="0" dirty="0">
                <a:solidFill>
                  <a:srgbClr val="93A1B8"/>
                </a:solidFill>
                <a:latin typeface="Segoe UI"/>
              </a:rPr>
              <a:t>: </a:t>
            </a:r>
            <a:r>
              <a:rPr sz="1150" b="1" i="0" dirty="0" err="1">
                <a:solidFill>
                  <a:srgbClr val="EDF1F8"/>
                </a:solidFill>
                <a:latin typeface="Segoe UI"/>
              </a:rPr>
              <a:t>không</a:t>
            </a:r>
            <a:r>
              <a:rPr sz="1150" b="1" i="0" dirty="0">
                <a:solidFill>
                  <a:srgbClr val="EDF1F8"/>
                </a:solidFill>
                <a:latin typeface="Segoe UI"/>
              </a:rPr>
              <a:t> bao </a:t>
            </a:r>
            <a:r>
              <a:rPr sz="1150" b="1" i="0" dirty="0" err="1">
                <a:solidFill>
                  <a:srgbClr val="EDF1F8"/>
                </a:solidFill>
                <a:latin typeface="Segoe UI"/>
              </a:rPr>
              <a:t>giờ</a:t>
            </a:r>
            <a:r>
              <a:rPr sz="1150" b="1" i="0" dirty="0">
                <a:solidFill>
                  <a:srgbClr val="EDF1F8"/>
                </a:solidFill>
                <a:latin typeface="Segoe UI"/>
              </a:rPr>
              <a:t> </a:t>
            </a:r>
            <a:r>
              <a:rPr sz="1150" b="1" i="0" dirty="0" err="1">
                <a:solidFill>
                  <a:srgbClr val="EDF1F8"/>
                </a:solidFill>
                <a:latin typeface="Segoe UI"/>
              </a:rPr>
              <a:t>cắt</a:t>
            </a:r>
            <a:r>
              <a:rPr sz="1150" b="1" i="0" dirty="0">
                <a:solidFill>
                  <a:srgbClr val="EDF1F8"/>
                </a:solidFill>
                <a:latin typeface="Segoe UI"/>
              </a:rPr>
              <a:t> </a:t>
            </a:r>
            <a:r>
              <a:rPr sz="1150" b="1" i="0" dirty="0" err="1">
                <a:solidFill>
                  <a:srgbClr val="EDF1F8"/>
                </a:solidFill>
                <a:latin typeface="Segoe UI"/>
              </a:rPr>
              <a:t>cách</a:t>
            </a:r>
            <a:r>
              <a:rPr sz="1150" b="1" i="0" dirty="0">
                <a:solidFill>
                  <a:srgbClr val="EDF1F8"/>
                </a:solidFill>
                <a:latin typeface="Segoe UI"/>
              </a:rPr>
              <a:t> </a:t>
            </a:r>
            <a:r>
              <a:rPr sz="1150" b="1" i="0" dirty="0" err="1">
                <a:solidFill>
                  <a:srgbClr val="EDF1F8"/>
                </a:solidFill>
                <a:latin typeface="Segoe UI"/>
              </a:rPr>
              <a:t>ly</a:t>
            </a:r>
            <a:r>
              <a:rPr sz="1150" b="1" i="0" dirty="0">
                <a:solidFill>
                  <a:srgbClr val="EDF1F8"/>
                </a:solidFill>
                <a:latin typeface="Segoe UI"/>
              </a:rPr>
              <a:t> </a:t>
            </a:r>
            <a:r>
              <a:rPr sz="1150" b="1" i="0" dirty="0" err="1">
                <a:solidFill>
                  <a:srgbClr val="EDF1F8"/>
                </a:solidFill>
                <a:latin typeface="Segoe UI"/>
              </a:rPr>
              <a:t>nước</a:t>
            </a:r>
            <a:r>
              <a:rPr sz="1150" b="1" i="0" dirty="0">
                <a:solidFill>
                  <a:srgbClr val="EDF1F8"/>
                </a:solidFill>
                <a:latin typeface="Segoe UI"/>
              </a:rPr>
              <a:t> · </a:t>
            </a:r>
            <a:r>
              <a:rPr sz="1150" b="1" i="0" dirty="0" err="1">
                <a:solidFill>
                  <a:srgbClr val="EDF1F8"/>
                </a:solidFill>
                <a:latin typeface="Segoe UI"/>
              </a:rPr>
              <a:t>tính</a:t>
            </a:r>
            <a:r>
              <a:rPr sz="1150" b="1" i="0" dirty="0">
                <a:solidFill>
                  <a:srgbClr val="EDF1F8"/>
                </a:solidFill>
                <a:latin typeface="Segoe UI"/>
              </a:rPr>
              <a:t> </a:t>
            </a:r>
            <a:r>
              <a:rPr sz="1150" b="1" i="0" dirty="0" err="1">
                <a:solidFill>
                  <a:srgbClr val="EDF1F8"/>
                </a:solidFill>
                <a:latin typeface="Segoe UI"/>
              </a:rPr>
              <a:t>đúng</a:t>
            </a:r>
            <a:r>
              <a:rPr sz="1150" b="1" i="0" dirty="0">
                <a:solidFill>
                  <a:srgbClr val="EDF1F8"/>
                </a:solidFill>
                <a:latin typeface="Segoe UI"/>
              </a:rPr>
              <a:t> </a:t>
            </a:r>
            <a:r>
              <a:rPr sz="1150" b="1" i="0" dirty="0" err="1">
                <a:solidFill>
                  <a:srgbClr val="EDF1F8"/>
                </a:solidFill>
                <a:latin typeface="Segoe UI"/>
              </a:rPr>
              <a:t>của</a:t>
            </a:r>
            <a:r>
              <a:rPr sz="1150" b="1" i="0" dirty="0">
                <a:solidFill>
                  <a:srgbClr val="EDF1F8"/>
                </a:solidFill>
                <a:latin typeface="Segoe UI"/>
              </a:rPr>
              <a:t> </a:t>
            </a:r>
            <a:r>
              <a:rPr sz="1150" b="1" i="0" dirty="0" err="1">
                <a:solidFill>
                  <a:srgbClr val="EDF1F8"/>
                </a:solidFill>
                <a:latin typeface="Segoe UI"/>
              </a:rPr>
              <a:t>tiền</a:t>
            </a:r>
            <a:r>
              <a:rPr sz="1150" b="1" i="0" dirty="0">
                <a:solidFill>
                  <a:srgbClr val="EDF1F8"/>
                </a:solidFill>
                <a:latin typeface="Segoe UI"/>
              </a:rPr>
              <a:t> · audit</a:t>
            </a:r>
            <a:r>
              <a:rPr sz="1150" b="0" i="0" dirty="0">
                <a:solidFill>
                  <a:srgbClr val="93A1B8"/>
                </a:solidFill>
                <a:latin typeface="Segoe UI"/>
              </a:rPr>
              <a:t> — </a:t>
            </a:r>
            <a:r>
              <a:rPr sz="1150" b="0" i="0" dirty="0" err="1">
                <a:solidFill>
                  <a:srgbClr val="93A1B8"/>
                </a:solidFill>
                <a:latin typeface="Segoe UI"/>
              </a:rPr>
              <a:t>chỉ</a:t>
            </a:r>
            <a:r>
              <a:rPr sz="1150" b="0" i="0" dirty="0">
                <a:solidFill>
                  <a:srgbClr val="93A1B8"/>
                </a:solidFill>
                <a:latin typeface="Segoe UI"/>
              </a:rPr>
              <a:t> </a:t>
            </a:r>
            <a:r>
              <a:rPr sz="1150" b="0" i="0" dirty="0" err="1">
                <a:solidFill>
                  <a:srgbClr val="93A1B8"/>
                </a:solidFill>
                <a:latin typeface="Segoe UI"/>
              </a:rPr>
              <a:t>cắt</a:t>
            </a:r>
            <a:r>
              <a:rPr sz="1150" b="0" i="0" dirty="0">
                <a:solidFill>
                  <a:srgbClr val="93A1B8"/>
                </a:solidFill>
                <a:latin typeface="Segoe UI"/>
              </a:rPr>
              <a:t> </a:t>
            </a:r>
            <a:r>
              <a:rPr sz="1150" b="0" i="0" dirty="0" err="1">
                <a:solidFill>
                  <a:srgbClr val="93A1B8"/>
                </a:solidFill>
                <a:latin typeface="Segoe UI"/>
              </a:rPr>
              <a:t>tính</a:t>
            </a:r>
            <a:r>
              <a:rPr sz="1150" b="0" i="0" dirty="0">
                <a:solidFill>
                  <a:srgbClr val="93A1B8"/>
                </a:solidFill>
                <a:latin typeface="Segoe UI"/>
              </a:rPr>
              <a:t> </a:t>
            </a:r>
            <a:r>
              <a:rPr sz="1150" b="0" i="0" dirty="0" err="1">
                <a:solidFill>
                  <a:srgbClr val="93A1B8"/>
                </a:solidFill>
                <a:latin typeface="Segoe UI"/>
              </a:rPr>
              <a:t>năng</a:t>
            </a:r>
            <a:r>
              <a:rPr sz="1150" b="0" i="0" dirty="0">
                <a:solidFill>
                  <a:srgbClr val="93A1B8"/>
                </a:solidFill>
                <a:latin typeface="Segoe UI"/>
              </a:rPr>
              <a:t> nice-to-have </a:t>
            </a:r>
            <a:r>
              <a:rPr sz="1150" b="0" i="0" dirty="0" err="1">
                <a:solidFill>
                  <a:srgbClr val="93A1B8"/>
                </a:solidFill>
                <a:latin typeface="Segoe UI"/>
              </a:rPr>
              <a:t>ngoài</a:t>
            </a:r>
            <a:r>
              <a:rPr sz="1150" b="0" i="0" dirty="0">
                <a:solidFill>
                  <a:srgbClr val="93A1B8"/>
                </a:solidFill>
                <a:latin typeface="Segoe UI"/>
              </a:rPr>
              <a:t> </a:t>
            </a:r>
            <a:r>
              <a:rPr sz="1150" b="0" i="0" dirty="0" err="1">
                <a:solidFill>
                  <a:srgbClr val="93A1B8"/>
                </a:solidFill>
                <a:latin typeface="Segoe UI"/>
              </a:rPr>
              <a:t>luồng</a:t>
            </a:r>
            <a:r>
              <a:rPr sz="1150" b="0" i="0" dirty="0">
                <a:solidFill>
                  <a:srgbClr val="93A1B8"/>
                </a:solidFill>
                <a:latin typeface="Segoe UI"/>
              </a:rPr>
              <a:t> </a:t>
            </a:r>
            <a:r>
              <a:rPr sz="1150" b="0" i="0" dirty="0" err="1">
                <a:solidFill>
                  <a:srgbClr val="93A1B8"/>
                </a:solidFill>
                <a:latin typeface="Segoe UI"/>
              </a:rPr>
              <a:t>tiền</a:t>
            </a:r>
            <a:r>
              <a:rPr sz="1150" b="0" i="0" dirty="0">
                <a:solidFill>
                  <a:srgbClr val="93A1B8"/>
                </a:solidFill>
                <a:latin typeface="Segoe UI"/>
              </a:rPr>
              <a:t>.</a:t>
            </a:r>
          </a:p>
        </p:txBody>
      </p:sp>
      <p:sp>
        <p:nvSpPr>
          <p:cNvPr id="8" name="Rounded Rectangle 7"/>
          <p:cNvSpPr/>
          <p:nvPr/>
        </p:nvSpPr>
        <p:spPr>
          <a:xfrm>
            <a:off x="566928" y="1828800"/>
            <a:ext cx="2627368" cy="2926080"/>
          </a:xfrm>
          <a:prstGeom prst="roundRect">
            <a:avLst>
              <a:gd name="adj" fmla="val 6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66928" y="1828800"/>
            <a:ext cx="2627368" cy="365760"/>
          </a:xfrm>
          <a:prstGeom prst="roundRect">
            <a:avLst>
              <a:gd name="adj" fmla="val 14000"/>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011680"/>
            <a:ext cx="2627368" cy="182880"/>
          </a:xfrm>
          <a:prstGeom prst="rect">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28800"/>
            <a:ext cx="45720" cy="29260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874519"/>
            <a:ext cx="2444488" cy="292608"/>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35D08A"/>
                </a:solidFill>
                <a:latin typeface="Segoe UI"/>
              </a:rPr>
              <a:t>LÀM ĐẦY ĐỦ (spine)</a:t>
            </a:r>
          </a:p>
        </p:txBody>
      </p:sp>
      <p:sp>
        <p:nvSpPr>
          <p:cNvPr id="13" name="Oval 12"/>
          <p:cNvSpPr/>
          <p:nvPr/>
        </p:nvSpPr>
        <p:spPr>
          <a:xfrm>
            <a:off x="749808" y="2386584"/>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6112" y="233172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Cách ly nước (CP-02/03)</a:t>
            </a:r>
          </a:p>
        </p:txBody>
      </p:sp>
      <p:sp>
        <p:nvSpPr>
          <p:cNvPr id="15" name="Oval 14"/>
          <p:cNvSpPr/>
          <p:nvPr/>
        </p:nvSpPr>
        <p:spPr>
          <a:xfrm>
            <a:off x="749808" y="2770632"/>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2715768"/>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Tiền tệ minor units (CP-06)</a:t>
            </a:r>
          </a:p>
        </p:txBody>
      </p:sp>
      <p:sp>
        <p:nvSpPr>
          <p:cNvPr id="17" name="Oval 16"/>
          <p:cNvSpPr/>
          <p:nvPr/>
        </p:nvSpPr>
        <p:spPr>
          <a:xfrm>
            <a:off x="749808" y="3154679"/>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3099815"/>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KYC · Join · Content</a:t>
            </a:r>
          </a:p>
        </p:txBody>
      </p:sp>
      <p:sp>
        <p:nvSpPr>
          <p:cNvPr id="19" name="Oval 18"/>
          <p:cNvSpPr/>
          <p:nvPr/>
        </p:nvSpPr>
        <p:spPr>
          <a:xfrm>
            <a:off x="749808" y="3538727"/>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3483863"/>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Earning · Ledger · Đối soát</a:t>
            </a:r>
          </a:p>
        </p:txBody>
      </p:sp>
      <p:sp>
        <p:nvSpPr>
          <p:cNvPr id="21" name="Oval 20"/>
          <p:cNvSpPr/>
          <p:nvPr/>
        </p:nvSpPr>
        <p:spPr>
          <a:xfrm>
            <a:off x="749808" y="3922775"/>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3867911"/>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Payout 3 kết cục</a:t>
            </a:r>
          </a:p>
        </p:txBody>
      </p:sp>
      <p:sp>
        <p:nvSpPr>
          <p:cNvPr id="23" name="Oval 22"/>
          <p:cNvSpPr/>
          <p:nvPr/>
        </p:nvSpPr>
        <p:spPr>
          <a:xfrm>
            <a:off x="749808" y="4306824"/>
            <a:ext cx="64008" cy="64008"/>
          </a:xfrm>
          <a:prstGeom prst="ellipse">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25196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RBAC 4 vai · Audit</a:t>
            </a:r>
          </a:p>
        </p:txBody>
      </p:sp>
      <p:sp>
        <p:nvSpPr>
          <p:cNvPr id="25" name="Rounded Rectangle 24"/>
          <p:cNvSpPr/>
          <p:nvPr/>
        </p:nvSpPr>
        <p:spPr>
          <a:xfrm>
            <a:off x="3377176" y="1828800"/>
            <a:ext cx="2627368" cy="2926080"/>
          </a:xfrm>
          <a:prstGeom prst="roundRect">
            <a:avLst>
              <a:gd name="adj" fmla="val 6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77176" y="1828800"/>
            <a:ext cx="2627368" cy="365760"/>
          </a:xfrm>
          <a:prstGeom prst="roundRect">
            <a:avLst>
              <a:gd name="adj" fmla="val 14000"/>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377176" y="2011680"/>
            <a:ext cx="2627368" cy="182880"/>
          </a:xfrm>
          <a:prstGeom prst="rect">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377176" y="1828800"/>
            <a:ext cx="45720" cy="29260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541768" y="1874519"/>
            <a:ext cx="2444488" cy="292608"/>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22D3EE"/>
                </a:solidFill>
                <a:latin typeface="Segoe UI"/>
              </a:rPr>
              <a:t>BẢN CƠ BẢN</a:t>
            </a:r>
          </a:p>
        </p:txBody>
      </p:sp>
      <p:sp>
        <p:nvSpPr>
          <p:cNvPr id="30" name="Oval 29"/>
          <p:cNvSpPr/>
          <p:nvPr/>
        </p:nvSpPr>
        <p:spPr>
          <a:xfrm>
            <a:off x="3560056" y="2386584"/>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06360" y="233172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i18n vi/en + fallback</a:t>
            </a:r>
          </a:p>
        </p:txBody>
      </p:sp>
      <p:sp>
        <p:nvSpPr>
          <p:cNvPr id="32" name="Oval 31"/>
          <p:cNvSpPr/>
          <p:nvPr/>
        </p:nvSpPr>
        <p:spPr>
          <a:xfrm>
            <a:off x="3560056" y="2770632"/>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06360" y="2715768"/>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Thuế synthetic (CP-08)</a:t>
            </a:r>
          </a:p>
        </p:txBody>
      </p:sp>
      <p:sp>
        <p:nvSpPr>
          <p:cNvPr id="34" name="Oval 33"/>
          <p:cNvSpPr/>
          <p:nvPr/>
        </p:nvSpPr>
        <p:spPr>
          <a:xfrm>
            <a:off x="3560056" y="3154679"/>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706360" y="3099815"/>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Campaign builder</a:t>
            </a:r>
          </a:p>
        </p:txBody>
      </p:sp>
      <p:sp>
        <p:nvSpPr>
          <p:cNvPr id="36" name="Oval 35"/>
          <p:cNvSpPr/>
          <p:nvPr/>
        </p:nvSpPr>
        <p:spPr>
          <a:xfrm>
            <a:off x="3560056" y="3538727"/>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06360" y="3483863"/>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USD tham chiếu</a:t>
            </a:r>
          </a:p>
        </p:txBody>
      </p:sp>
      <p:sp>
        <p:nvSpPr>
          <p:cNvPr id="38" name="Oval 37"/>
          <p:cNvSpPr/>
          <p:nvPr/>
        </p:nvSpPr>
        <p:spPr>
          <a:xfrm>
            <a:off x="3560056" y="3922775"/>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06360" y="3867911"/>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Reward rule 3 trục</a:t>
            </a:r>
          </a:p>
        </p:txBody>
      </p:sp>
      <p:sp>
        <p:nvSpPr>
          <p:cNvPr id="40" name="Oval 39"/>
          <p:cNvSpPr/>
          <p:nvPr/>
        </p:nvSpPr>
        <p:spPr>
          <a:xfrm>
            <a:off x="3560056" y="4306824"/>
            <a:ext cx="64008" cy="64008"/>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706360" y="425196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Waitlist FCFS + strike</a:t>
            </a:r>
          </a:p>
        </p:txBody>
      </p:sp>
      <p:sp>
        <p:nvSpPr>
          <p:cNvPr id="42" name="Rounded Rectangle 41"/>
          <p:cNvSpPr/>
          <p:nvPr/>
        </p:nvSpPr>
        <p:spPr>
          <a:xfrm>
            <a:off x="6187424" y="1828800"/>
            <a:ext cx="2627368" cy="2926080"/>
          </a:xfrm>
          <a:prstGeom prst="roundRect">
            <a:avLst>
              <a:gd name="adj" fmla="val 6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187424" y="1828800"/>
            <a:ext cx="2627368" cy="365760"/>
          </a:xfrm>
          <a:prstGeom prst="roundRect">
            <a:avLst>
              <a:gd name="adj" fmla="val 14000"/>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87424" y="2011680"/>
            <a:ext cx="2627368" cy="182880"/>
          </a:xfrm>
          <a:prstGeom prst="rect">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87424" y="1828800"/>
            <a:ext cx="45720" cy="2926080"/>
          </a:xfrm>
          <a:prstGeom prst="rect">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52016" y="1874519"/>
            <a:ext cx="2444488" cy="292608"/>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F5B342"/>
                </a:solidFill>
                <a:latin typeface="Segoe UI"/>
              </a:rPr>
              <a:t>MOCK CÓ CÔNG BỐ</a:t>
            </a:r>
          </a:p>
        </p:txBody>
      </p:sp>
      <p:sp>
        <p:nvSpPr>
          <p:cNvPr id="47" name="Oval 46"/>
          <p:cNvSpPr/>
          <p:nvPr/>
        </p:nvSpPr>
        <p:spPr>
          <a:xfrm>
            <a:off x="6370304" y="2386584"/>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16608" y="233172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SSO (Login Google giả)</a:t>
            </a:r>
          </a:p>
        </p:txBody>
      </p:sp>
      <p:sp>
        <p:nvSpPr>
          <p:cNvPr id="49" name="Oval 48"/>
          <p:cNvSpPr/>
          <p:nvPr/>
        </p:nvSpPr>
        <p:spPr>
          <a:xfrm>
            <a:off x="6370304" y="2770632"/>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16608" y="2715768"/>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eKYC (Ops duyệt tay)</a:t>
            </a:r>
          </a:p>
        </p:txBody>
      </p:sp>
      <p:sp>
        <p:nvSpPr>
          <p:cNvPr id="51" name="Oval 50"/>
          <p:cNvSpPr/>
          <p:nvPr/>
        </p:nvSpPr>
        <p:spPr>
          <a:xfrm>
            <a:off x="6370304" y="3154679"/>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16608" y="3099815"/>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OTP (mã cố định dev)</a:t>
            </a:r>
          </a:p>
        </p:txBody>
      </p:sp>
      <p:sp>
        <p:nvSpPr>
          <p:cNvPr id="53" name="Oval 52"/>
          <p:cNvSpPr/>
          <p:nvPr/>
        </p:nvSpPr>
        <p:spPr>
          <a:xfrm>
            <a:off x="6370304" y="3538727"/>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516608" y="3483863"/>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Payment provider giả</a:t>
            </a:r>
          </a:p>
        </p:txBody>
      </p:sp>
      <p:sp>
        <p:nvSpPr>
          <p:cNvPr id="55" name="Oval 54"/>
          <p:cNvSpPr/>
          <p:nvPr/>
        </p:nvSpPr>
        <p:spPr>
          <a:xfrm>
            <a:off x="6370304" y="3922775"/>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16608" y="3867911"/>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Tỷ giá bảng tĩnh</a:t>
            </a:r>
          </a:p>
        </p:txBody>
      </p:sp>
      <p:sp>
        <p:nvSpPr>
          <p:cNvPr id="57" name="Oval 56"/>
          <p:cNvSpPr/>
          <p:nvPr/>
        </p:nvSpPr>
        <p:spPr>
          <a:xfrm>
            <a:off x="6370304" y="4306824"/>
            <a:ext cx="64008" cy="64008"/>
          </a:xfrm>
          <a:prstGeom prst="ellipse">
            <a:avLst/>
          </a:prstGeom>
          <a:solidFill>
            <a:srgbClr val="F5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16608" y="425196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Take-rate · Escrow · Apply</a:t>
            </a:r>
          </a:p>
        </p:txBody>
      </p:sp>
      <p:sp>
        <p:nvSpPr>
          <p:cNvPr id="59" name="Rounded Rectangle 58"/>
          <p:cNvSpPr/>
          <p:nvPr/>
        </p:nvSpPr>
        <p:spPr>
          <a:xfrm>
            <a:off x="8997673" y="1828800"/>
            <a:ext cx="2627368" cy="2926080"/>
          </a:xfrm>
          <a:prstGeom prst="roundRect">
            <a:avLst>
              <a:gd name="adj" fmla="val 6000"/>
            </a:avLst>
          </a:prstGeom>
          <a:solidFill>
            <a:srgbClr val="111828"/>
          </a:solidFill>
          <a:ln w="10160">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8997673" y="1828800"/>
            <a:ext cx="2627368" cy="365760"/>
          </a:xfrm>
          <a:prstGeom prst="roundRect">
            <a:avLst>
              <a:gd name="adj" fmla="val 14000"/>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8997673" y="2011680"/>
            <a:ext cx="2627368" cy="182880"/>
          </a:xfrm>
          <a:prstGeom prst="rect">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997673" y="1828800"/>
            <a:ext cx="45720" cy="2926080"/>
          </a:xfrm>
          <a:prstGeom prst="rect">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62265" y="1874519"/>
            <a:ext cx="2444488" cy="292608"/>
          </a:xfrm>
          <a:prstGeom prst="rect">
            <a:avLst/>
          </a:prstGeom>
          <a:noFill/>
        </p:spPr>
        <p:txBody>
          <a:bodyPr wrap="square" lIns="0" tIns="0" rIns="0" bIns="0" anchor="ctr">
            <a:spAutoFit/>
          </a:bodyPr>
          <a:lstStyle/>
          <a:p>
            <a:pPr algn="l">
              <a:lnSpc>
                <a:spcPct val="100000"/>
              </a:lnSpc>
              <a:spcBef>
                <a:spcPts val="0"/>
              </a:spcBef>
              <a:spcAft>
                <a:spcPts val="200"/>
              </a:spcAft>
            </a:pPr>
            <a:r>
              <a:rPr sz="950" b="1" i="0">
                <a:solidFill>
                  <a:srgbClr val="5F6E86"/>
                </a:solidFill>
                <a:latin typeface="Segoe UI"/>
              </a:rPr>
              <a:t>CẮT CÓ LÝ DO (P1+)</a:t>
            </a:r>
          </a:p>
        </p:txBody>
      </p:sp>
      <p:sp>
        <p:nvSpPr>
          <p:cNvPr id="64" name="Oval 63"/>
          <p:cNvSpPr/>
          <p:nvPr/>
        </p:nvSpPr>
        <p:spPr>
          <a:xfrm>
            <a:off x="9180553" y="2386584"/>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26857" y="233172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Brand portal → Phase 2</a:t>
            </a:r>
          </a:p>
        </p:txBody>
      </p:sp>
      <p:sp>
        <p:nvSpPr>
          <p:cNvPr id="66" name="Oval 65"/>
          <p:cNvSpPr/>
          <p:nvPr/>
        </p:nvSpPr>
        <p:spPr>
          <a:xfrm>
            <a:off x="9180553" y="2770632"/>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326857" y="2715768"/>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CPS / attribution → P3</a:t>
            </a:r>
          </a:p>
        </p:txBody>
      </p:sp>
      <p:sp>
        <p:nvSpPr>
          <p:cNvPr id="68" name="Oval 67"/>
          <p:cNvSpPr/>
          <p:nvPr/>
        </p:nvSpPr>
        <p:spPr>
          <a:xfrm>
            <a:off x="9180553" y="3154679"/>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326857" y="3099815"/>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API/webhook công khai</a:t>
            </a:r>
          </a:p>
        </p:txBody>
      </p:sp>
      <p:sp>
        <p:nvSpPr>
          <p:cNvPr id="70" name="Oval 69"/>
          <p:cNvSpPr/>
          <p:nvPr/>
        </p:nvSpPr>
        <p:spPr>
          <a:xfrm>
            <a:off x="9180553" y="3538727"/>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326857" y="3483863"/>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Push notification</a:t>
            </a:r>
          </a:p>
        </p:txBody>
      </p:sp>
      <p:sp>
        <p:nvSpPr>
          <p:cNvPr id="72" name="Oval 71"/>
          <p:cNvSpPr/>
          <p:nvPr/>
        </p:nvSpPr>
        <p:spPr>
          <a:xfrm>
            <a:off x="9180553" y="3922775"/>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26857" y="3867911"/>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Social account linking</a:t>
            </a:r>
          </a:p>
        </p:txBody>
      </p:sp>
      <p:sp>
        <p:nvSpPr>
          <p:cNvPr id="74" name="Oval 73"/>
          <p:cNvSpPr/>
          <p:nvPr/>
        </p:nvSpPr>
        <p:spPr>
          <a:xfrm>
            <a:off x="9180553" y="4306824"/>
            <a:ext cx="64008" cy="64008"/>
          </a:xfrm>
          <a:prstGeom prst="ellipse">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326857" y="4251960"/>
            <a:ext cx="2170168" cy="365760"/>
          </a:xfrm>
          <a:prstGeom prst="rect">
            <a:avLst/>
          </a:prstGeom>
          <a:noFill/>
        </p:spPr>
        <p:txBody>
          <a:bodyPr wrap="square" lIns="0" tIns="0" rIns="0" bIns="0" anchor="t">
            <a:spAutoFit/>
          </a:bodyPr>
          <a:lstStyle/>
          <a:p>
            <a:pPr algn="l">
              <a:lnSpc>
                <a:spcPct val="100000"/>
              </a:lnSpc>
              <a:spcBef>
                <a:spcPts val="0"/>
              </a:spcBef>
              <a:spcAft>
                <a:spcPts val="200"/>
              </a:spcAft>
            </a:pPr>
            <a:r>
              <a:rPr sz="900" b="0" i="0">
                <a:solidFill>
                  <a:srgbClr val="93A1B8"/>
                </a:solidFill>
                <a:latin typeface="Segoe UI"/>
              </a:rPr>
              <a:t>Báo cáo nâng cao</a:t>
            </a:r>
          </a:p>
        </p:txBody>
      </p:sp>
      <p:sp>
        <p:nvSpPr>
          <p:cNvPr id="76" name="Rounded Rectangle 75"/>
          <p:cNvSpPr/>
          <p:nvPr/>
        </p:nvSpPr>
        <p:spPr>
          <a:xfrm>
            <a:off x="566928" y="4983480"/>
            <a:ext cx="3564117" cy="868680"/>
          </a:xfrm>
          <a:prstGeom prst="roundRect">
            <a:avLst>
              <a:gd name="adj" fmla="val 8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566928" y="4983480"/>
            <a:ext cx="45720" cy="868680"/>
          </a:xfrm>
          <a:prstGeom prst="rect">
            <a:avLst/>
          </a:prstGeom>
          <a:solidFill>
            <a:srgbClr val="35D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49808" y="5093208"/>
            <a:ext cx="3289797"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5D08A"/>
                </a:solidFill>
                <a:latin typeface="Segoe UI"/>
              </a:rPr>
              <a:t>PHASE 1 · Hiện tại</a:t>
            </a:r>
          </a:p>
        </p:txBody>
      </p:sp>
      <p:sp>
        <p:nvSpPr>
          <p:cNvPr id="79" name="TextBox 78"/>
          <p:cNvSpPr txBox="1"/>
          <p:nvPr/>
        </p:nvSpPr>
        <p:spPr>
          <a:xfrm>
            <a:off x="749808" y="5385816"/>
            <a:ext cx="3289797" cy="411480"/>
          </a:xfrm>
          <a:prstGeom prst="rect">
            <a:avLst/>
          </a:prstGeom>
          <a:noFill/>
        </p:spPr>
        <p:txBody>
          <a:bodyPr wrap="square" lIns="0" tIns="0" rIns="0" bIns="0" anchor="t">
            <a:spAutoFit/>
          </a:bodyPr>
          <a:lstStyle/>
          <a:p>
            <a:pPr algn="l">
              <a:lnSpc>
                <a:spcPct val="110000"/>
              </a:lnSpc>
              <a:spcBef>
                <a:spcPts val="0"/>
              </a:spcBef>
              <a:spcAft>
                <a:spcPts val="200"/>
              </a:spcAft>
            </a:pPr>
            <a:r>
              <a:rPr sz="900" b="0" i="0">
                <a:solidFill>
                  <a:srgbClr val="93A1B8"/>
                </a:solidFill>
                <a:latin typeface="Segoe UI"/>
              </a:rPr>
              <a:t>Luồng tiền khép kín VN+PH trên backend Go · 5 dashboard · cách ly + audit + test</a:t>
            </a:r>
          </a:p>
        </p:txBody>
      </p:sp>
      <p:sp>
        <p:nvSpPr>
          <p:cNvPr id="80" name="Chevron 79"/>
          <p:cNvSpPr/>
          <p:nvPr/>
        </p:nvSpPr>
        <p:spPr>
          <a:xfrm>
            <a:off x="4158477" y="5367528"/>
            <a:ext cx="118872" cy="146304"/>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4313925" y="4983480"/>
            <a:ext cx="3564117" cy="868680"/>
          </a:xfrm>
          <a:prstGeom prst="roundRect">
            <a:avLst>
              <a:gd name="adj" fmla="val 8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4313925" y="4983480"/>
            <a:ext cx="45720" cy="8686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496805" y="5093208"/>
            <a:ext cx="3289797"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22D3EE"/>
                </a:solidFill>
                <a:latin typeface="Segoe UI"/>
              </a:rPr>
              <a:t>PHASE 2 · Mở rộng</a:t>
            </a:r>
          </a:p>
        </p:txBody>
      </p:sp>
      <p:sp>
        <p:nvSpPr>
          <p:cNvPr id="84" name="TextBox 83"/>
          <p:cNvSpPr txBox="1"/>
          <p:nvPr/>
        </p:nvSpPr>
        <p:spPr>
          <a:xfrm>
            <a:off x="4496805" y="5385816"/>
            <a:ext cx="3289797" cy="411480"/>
          </a:xfrm>
          <a:prstGeom prst="rect">
            <a:avLst/>
          </a:prstGeom>
          <a:noFill/>
        </p:spPr>
        <p:txBody>
          <a:bodyPr wrap="square" lIns="0" tIns="0" rIns="0" bIns="0" anchor="t">
            <a:spAutoFit/>
          </a:bodyPr>
          <a:lstStyle/>
          <a:p>
            <a:pPr algn="l">
              <a:lnSpc>
                <a:spcPct val="110000"/>
              </a:lnSpc>
              <a:spcBef>
                <a:spcPts val="0"/>
              </a:spcBef>
              <a:spcAft>
                <a:spcPts val="200"/>
              </a:spcAft>
            </a:pPr>
            <a:r>
              <a:rPr sz="900" b="0" i="0">
                <a:solidFill>
                  <a:srgbClr val="93A1B8"/>
                </a:solidFill>
                <a:latin typeface="Segoe UI"/>
              </a:rPr>
              <a:t>Brand portal tự phục vụ · thu phí + escrow prepaid · apply→duyệt</a:t>
            </a:r>
          </a:p>
        </p:txBody>
      </p:sp>
      <p:sp>
        <p:nvSpPr>
          <p:cNvPr id="85" name="Chevron 84"/>
          <p:cNvSpPr/>
          <p:nvPr/>
        </p:nvSpPr>
        <p:spPr>
          <a:xfrm>
            <a:off x="7905475" y="5367528"/>
            <a:ext cx="118872" cy="146304"/>
          </a:xfrm>
          <a:prstGeom prst="chevron">
            <a:avLst/>
          </a:prstGeom>
          <a:solidFill>
            <a:srgbClr val="5F6E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p:cNvSpPr/>
          <p:nvPr/>
        </p:nvSpPr>
        <p:spPr>
          <a:xfrm>
            <a:off x="8060923" y="4983480"/>
            <a:ext cx="3564117" cy="868680"/>
          </a:xfrm>
          <a:prstGeom prst="roundRect">
            <a:avLst>
              <a:gd name="adj" fmla="val 8000"/>
            </a:avLst>
          </a:prstGeom>
          <a:solidFill>
            <a:srgbClr val="111828"/>
          </a:solidFill>
          <a:ln w="9525">
            <a:solidFill>
              <a:srgbClr val="253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8060923" y="4983480"/>
            <a:ext cx="45720" cy="868680"/>
          </a:xfrm>
          <a:prstGeom prst="rect">
            <a:avLst/>
          </a:prstGeom>
          <a:solidFill>
            <a:srgbClr val="6E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243803" y="5093208"/>
            <a:ext cx="3289797"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6E7BFF"/>
                </a:solidFill>
                <a:latin typeface="Segoe UI"/>
              </a:rPr>
              <a:t>PHASE 3 · Quy mô</a:t>
            </a:r>
          </a:p>
        </p:txBody>
      </p:sp>
      <p:sp>
        <p:nvSpPr>
          <p:cNvPr id="89" name="TextBox 88"/>
          <p:cNvSpPr txBox="1"/>
          <p:nvPr/>
        </p:nvSpPr>
        <p:spPr>
          <a:xfrm>
            <a:off x="8243803" y="5385816"/>
            <a:ext cx="3289797" cy="411480"/>
          </a:xfrm>
          <a:prstGeom prst="rect">
            <a:avLst/>
          </a:prstGeom>
          <a:noFill/>
        </p:spPr>
        <p:txBody>
          <a:bodyPr wrap="square" lIns="0" tIns="0" rIns="0" bIns="0" anchor="t">
            <a:spAutoFit/>
          </a:bodyPr>
          <a:lstStyle/>
          <a:p>
            <a:pPr algn="l">
              <a:lnSpc>
                <a:spcPct val="110000"/>
              </a:lnSpc>
              <a:spcBef>
                <a:spcPts val="0"/>
              </a:spcBef>
              <a:spcAft>
                <a:spcPts val="200"/>
              </a:spcAft>
            </a:pPr>
            <a:r>
              <a:rPr sz="900" b="0" i="0">
                <a:solidFill>
                  <a:srgbClr val="93A1B8"/>
                </a:solidFill>
                <a:latin typeface="Segoe UI"/>
              </a:rPr>
              <a:t>CPS/attribution đơn hàng · API/webhook công khai · thêm quốc gia</a:t>
            </a:r>
          </a:p>
        </p:txBody>
      </p:sp>
      <p:sp>
        <p:nvSpPr>
          <p:cNvPr id="90" name="TextBox 89"/>
          <p:cNvSpPr txBox="1"/>
          <p:nvPr/>
        </p:nvSpPr>
        <p:spPr>
          <a:xfrm>
            <a:off x="566928" y="6053328"/>
            <a:ext cx="11064240" cy="169277"/>
          </a:xfrm>
          <a:prstGeom prst="rect">
            <a:avLst/>
          </a:prstGeom>
          <a:noFill/>
        </p:spPr>
        <p:txBody>
          <a:bodyPr wrap="square" lIns="0" tIns="0" rIns="0" bIns="0" anchor="t">
            <a:spAutoFit/>
          </a:bodyPr>
          <a:lstStyle/>
          <a:p>
            <a:pPr algn="l">
              <a:lnSpc>
                <a:spcPct val="100000"/>
              </a:lnSpc>
              <a:spcBef>
                <a:spcPts val="0"/>
              </a:spcBef>
              <a:spcAft>
                <a:spcPts val="200"/>
              </a:spcAft>
            </a:pPr>
            <a:r>
              <a:rPr sz="1100" b="1" i="0" dirty="0" err="1">
                <a:solidFill>
                  <a:srgbClr val="EDF1F8"/>
                </a:solidFill>
                <a:latin typeface="Segoe UI"/>
              </a:rPr>
              <a:t>Nền</a:t>
            </a:r>
            <a:r>
              <a:rPr sz="1100" b="1" i="0" dirty="0">
                <a:solidFill>
                  <a:srgbClr val="EDF1F8"/>
                </a:solidFill>
                <a:latin typeface="Segoe UI"/>
              </a:rPr>
              <a:t> </a:t>
            </a:r>
            <a:r>
              <a:rPr sz="1100" b="1" i="0" dirty="0" err="1">
                <a:solidFill>
                  <a:srgbClr val="EDF1F8"/>
                </a:solidFill>
                <a:latin typeface="Segoe UI"/>
              </a:rPr>
              <a:t>kỹ</a:t>
            </a:r>
            <a:r>
              <a:rPr sz="1100" b="1" i="0" dirty="0">
                <a:solidFill>
                  <a:srgbClr val="EDF1F8"/>
                </a:solidFill>
                <a:latin typeface="Segoe UI"/>
              </a:rPr>
              <a:t> </a:t>
            </a:r>
            <a:r>
              <a:rPr sz="1100" b="1" i="0" dirty="0" err="1">
                <a:solidFill>
                  <a:srgbClr val="EDF1F8"/>
                </a:solidFill>
                <a:latin typeface="Segoe UI"/>
              </a:rPr>
              <a:t>thuật</a:t>
            </a:r>
            <a:r>
              <a:rPr sz="1100" b="1" i="0" dirty="0">
                <a:solidFill>
                  <a:srgbClr val="EDF1F8"/>
                </a:solidFill>
                <a:latin typeface="Segoe UI"/>
              </a:rPr>
              <a:t> </a:t>
            </a:r>
            <a:r>
              <a:rPr sz="1100" b="1" i="0" dirty="0" err="1">
                <a:solidFill>
                  <a:srgbClr val="EDF1F8"/>
                </a:solidFill>
                <a:latin typeface="Segoe UI"/>
              </a:rPr>
              <a:t>chắc</a:t>
            </a:r>
            <a:r>
              <a:rPr sz="1100" b="1" i="0" dirty="0">
                <a:solidFill>
                  <a:srgbClr val="EDF1F8"/>
                </a:solidFill>
                <a:latin typeface="Segoe UI"/>
              </a:rPr>
              <a:t> → </a:t>
            </a:r>
            <a:r>
              <a:rPr sz="1100" b="1" i="0" dirty="0" err="1">
                <a:solidFill>
                  <a:srgbClr val="EDF1F8"/>
                </a:solidFill>
                <a:latin typeface="Segoe UI"/>
              </a:rPr>
              <a:t>mở</a:t>
            </a:r>
            <a:r>
              <a:rPr sz="1100" b="1" i="0" dirty="0">
                <a:solidFill>
                  <a:srgbClr val="EDF1F8"/>
                </a:solidFill>
                <a:latin typeface="Segoe UI"/>
              </a:rPr>
              <a:t> </a:t>
            </a:r>
            <a:r>
              <a:rPr sz="1100" b="1" i="0" dirty="0" err="1">
                <a:solidFill>
                  <a:srgbClr val="EDF1F8"/>
                </a:solidFill>
                <a:latin typeface="Segoe UI"/>
              </a:rPr>
              <a:t>rộng</a:t>
            </a:r>
            <a:r>
              <a:rPr sz="1100" b="1" i="0" dirty="0">
                <a:solidFill>
                  <a:srgbClr val="EDF1F8"/>
                </a:solidFill>
                <a:latin typeface="Segoe UI"/>
              </a:rPr>
              <a:t> </a:t>
            </a:r>
            <a:r>
              <a:rPr sz="1100" b="1" i="0" dirty="0" err="1">
                <a:solidFill>
                  <a:srgbClr val="EDF1F8"/>
                </a:solidFill>
                <a:latin typeface="Segoe UI"/>
              </a:rPr>
              <a:t>tính</a:t>
            </a:r>
            <a:r>
              <a:rPr sz="1100" b="1" i="0" dirty="0">
                <a:solidFill>
                  <a:srgbClr val="EDF1F8"/>
                </a:solidFill>
                <a:latin typeface="Segoe UI"/>
              </a:rPr>
              <a:t> </a:t>
            </a:r>
            <a:r>
              <a:rPr sz="1100" b="1" i="0" dirty="0" err="1">
                <a:solidFill>
                  <a:srgbClr val="EDF1F8"/>
                </a:solidFill>
                <a:latin typeface="Segoe UI"/>
              </a:rPr>
              <a:t>năng</a:t>
            </a:r>
            <a:r>
              <a:rPr sz="1100" b="1" i="0" dirty="0">
                <a:solidFill>
                  <a:srgbClr val="EDF1F8"/>
                </a:solidFill>
                <a:latin typeface="Segoe UI"/>
              </a:rPr>
              <a:t> </a:t>
            </a:r>
            <a:r>
              <a:rPr sz="1100" b="1" i="0" dirty="0" err="1">
                <a:solidFill>
                  <a:srgbClr val="EDF1F8"/>
                </a:solidFill>
                <a:latin typeface="Segoe UI"/>
              </a:rPr>
              <a:t>là</a:t>
            </a:r>
            <a:r>
              <a:rPr sz="1100" b="1" i="0" dirty="0">
                <a:solidFill>
                  <a:srgbClr val="EDF1F8"/>
                </a:solidFill>
                <a:latin typeface="Segoe UI"/>
              </a:rPr>
              <a:t> </a:t>
            </a:r>
            <a:r>
              <a:rPr sz="1100" b="1" i="0" dirty="0" err="1">
                <a:solidFill>
                  <a:srgbClr val="EDF1F8"/>
                </a:solidFill>
                <a:latin typeface="Segoe UI"/>
              </a:rPr>
              <a:t>thêm</a:t>
            </a:r>
            <a:r>
              <a:rPr sz="1100" b="1" i="0" dirty="0">
                <a:solidFill>
                  <a:srgbClr val="EDF1F8"/>
                </a:solidFill>
                <a:latin typeface="Segoe UI"/>
              </a:rPr>
              <a:t> </a:t>
            </a:r>
            <a:r>
              <a:rPr sz="1100" b="1" i="0" dirty="0" err="1">
                <a:solidFill>
                  <a:srgbClr val="EDF1F8"/>
                </a:solidFill>
                <a:latin typeface="Segoe UI"/>
              </a:rPr>
              <a:t>lớp</a:t>
            </a:r>
            <a:r>
              <a:rPr sz="1100" b="1" i="0" dirty="0">
                <a:solidFill>
                  <a:srgbClr val="EDF1F8"/>
                </a:solidFill>
                <a:latin typeface="Segoe UI"/>
              </a:rPr>
              <a:t>, </a:t>
            </a:r>
            <a:r>
              <a:rPr sz="1100" b="1" i="0" dirty="0" err="1">
                <a:solidFill>
                  <a:srgbClr val="EDF1F8"/>
                </a:solidFill>
                <a:latin typeface="Segoe UI"/>
              </a:rPr>
              <a:t>không</a:t>
            </a:r>
            <a:r>
              <a:rPr sz="1100" b="1" i="0" dirty="0">
                <a:solidFill>
                  <a:srgbClr val="EDF1F8"/>
                </a:solidFill>
                <a:latin typeface="Segoe UI"/>
              </a:rPr>
              <a:t> </a:t>
            </a:r>
            <a:r>
              <a:rPr sz="1100" b="1" i="0" dirty="0" err="1">
                <a:solidFill>
                  <a:srgbClr val="EDF1F8"/>
                </a:solidFill>
                <a:latin typeface="Segoe UI"/>
              </a:rPr>
              <a:t>phải</a:t>
            </a:r>
            <a:r>
              <a:rPr sz="1100" b="1" i="0" dirty="0">
                <a:solidFill>
                  <a:srgbClr val="EDF1F8"/>
                </a:solidFill>
                <a:latin typeface="Segoe UI"/>
              </a:rPr>
              <a:t> </a:t>
            </a:r>
            <a:r>
              <a:rPr sz="1100" b="1" i="0" dirty="0" err="1">
                <a:solidFill>
                  <a:srgbClr val="EDF1F8"/>
                </a:solidFill>
                <a:latin typeface="Segoe UI"/>
              </a:rPr>
              <a:t>viết</a:t>
            </a:r>
            <a:r>
              <a:rPr sz="1100" b="1" i="0" dirty="0">
                <a:solidFill>
                  <a:srgbClr val="EDF1F8"/>
                </a:solidFill>
                <a:latin typeface="Segoe UI"/>
              </a:rPr>
              <a:t> </a:t>
            </a:r>
            <a:r>
              <a:rPr sz="1100" b="1" i="0" dirty="0" err="1">
                <a:solidFill>
                  <a:srgbClr val="EDF1F8"/>
                </a:solidFill>
                <a:latin typeface="Segoe UI"/>
              </a:rPr>
              <a:t>lại</a:t>
            </a:r>
            <a:r>
              <a:rPr sz="1100" b="1" i="0" dirty="0">
                <a:solidFill>
                  <a:srgbClr val="EDF1F8"/>
                </a:solidFill>
                <a:latin typeface="Segoe UI"/>
              </a:rPr>
              <a:t>. </a:t>
            </a:r>
            <a:endParaRPr sz="1100" b="0" i="1" dirty="0">
              <a:solidFill>
                <a:srgbClr val="93A1B8"/>
              </a:solidFill>
              <a:latin typeface="Segoe UI"/>
            </a:endParaRPr>
          </a:p>
        </p:txBody>
      </p:sp>
      <p:sp>
        <p:nvSpPr>
          <p:cNvPr id="91" name="TextBox 90"/>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5F6E86"/>
                </a:solidFill>
                <a:latin typeface="Segoe UI"/>
              </a:rPr>
              <a:t>Affiliate GLOBAL · Phase 1   Bản đồ 22 Must: Plan/KE_HOACH_V2.md · Backend Go: Plan/GO_BACKEND_REWRITE_PLAN.md</a:t>
            </a:r>
          </a:p>
        </p:txBody>
      </p:sp>
      <p:sp>
        <p:nvSpPr>
          <p:cNvPr id="92" name="TextBox 91"/>
          <p:cNvSpPr txBox="1"/>
          <p:nvPr/>
        </p:nvSpPr>
        <p:spPr>
          <a:xfrm>
            <a:off x="10972800" y="6510528"/>
            <a:ext cx="731520" cy="274320"/>
          </a:xfrm>
          <a:prstGeom prst="rect">
            <a:avLst/>
          </a:prstGeom>
          <a:noFill/>
        </p:spPr>
        <p:txBody>
          <a:bodyPr wrap="square" lIns="0" tIns="0" rIns="0" bIns="0" anchor="t">
            <a:spAutoFit/>
          </a:bodyPr>
          <a:lstStyle/>
          <a:p>
            <a:pPr algn="r">
              <a:lnSpc>
                <a:spcPct val="100000"/>
              </a:lnSpc>
              <a:spcBef>
                <a:spcPts val="0"/>
              </a:spcBef>
              <a:spcAft>
                <a:spcPts val="200"/>
              </a:spcAft>
            </a:pPr>
            <a:r>
              <a:rPr sz="850" b="1" i="0">
                <a:solidFill>
                  <a:srgbClr val="5F6E86"/>
                </a:solidFill>
                <a:latin typeface="Segoe UI"/>
              </a:rP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578</TotalTime>
  <Words>1721</Words>
  <Application>Microsoft Office PowerPoint</Application>
  <PresentationFormat>Widescreen</PresentationFormat>
  <Paragraphs>224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Lê Văn Quang</cp:lastModifiedBy>
  <cp:revision>5</cp:revision>
  <dcterms:created xsi:type="dcterms:W3CDTF">2013-01-27T09:14:16Z</dcterms:created>
  <dcterms:modified xsi:type="dcterms:W3CDTF">2026-07-23T04:04:59Z</dcterms:modified>
  <cp:category/>
</cp:coreProperties>
</file>