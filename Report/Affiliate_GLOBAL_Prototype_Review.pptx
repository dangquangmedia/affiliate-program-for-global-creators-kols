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A0E17"/>
                </a:solidFill>
                <a:latin typeface="Segoe UI"/>
              </a:rPr>
              <a:t>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DF1F8"/>
                </a:solidFill>
                <a:latin typeface="Segoe UI"/>
              </a:rPr>
              <a:t>Affiliate GLOBAL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6E86"/>
                </a:solidFill>
                <a:latin typeface="Segoe UI"/>
              </a:rPr>
              <a:t>CONTROL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NỀN TẢNG AFFILIATE ĐA QUỐC GIA · 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6035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EDF1F8"/>
                </a:solidFill>
                <a:latin typeface="Segoe UI"/>
              </a:rPr>
              <a:t>Một cỗ máy tiền,</a:t>
            </a:r>
          </a:p>
          <a:p>
            <a:pPr algn="l">
              <a:lnSpc>
                <a:spcPct val="102000"/>
              </a:lnSpc>
            </a:pPr>
            <a:r>
              <a:rPr sz="4000" b="1" i="0">
                <a:solidFill>
                  <a:srgbClr val="6E7BFF"/>
                </a:solidFill>
                <a:latin typeface="Segoe UI"/>
              </a:rPr>
              <a:t>hai thị trường tách biệt.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93A1B8"/>
                </a:solidFill>
                <a:latin typeface="Segoe UI"/>
              </a:rPr>
              <a:t>Việt Nam và Philippines chạy chung một hệ thống nhưng dữ liệu, tiền tệ, thuế và mức rút không bao giờ trộn lẫn — từ nội dung được duyệt tới lúc rút tiền, mọi trạng thái đều minh bạch, mọi quyết định đều để lại vết.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6B44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6E86"/>
                </a:solidFill>
                <a:latin typeface="Segoe UI"/>
              </a:rPr>
              <a:t>thị trường · VND/PH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44068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6E7BFF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9893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6E86"/>
                </a:solidFill>
                <a:latin typeface="Segoe UI"/>
              </a:rPr>
              <a:t>vai điều hành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44068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5D08A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9893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6E86"/>
                </a:solidFill>
                <a:latin typeface="Segoe UI"/>
              </a:rPr>
              <a:t>kết cục payout an toàn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544068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2D3EE"/>
                </a:solidFill>
                <a:latin typeface="Segoe U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98932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6E86"/>
                </a:solidFill>
                <a:latin typeface="Segoe UI"/>
              </a:rPr>
              <a:t>quyết định có audit</a:t>
            </a:r>
          </a:p>
        </p:txBody>
      </p:sp>
      <p:pic>
        <p:nvPicPr>
          <p:cNvPr id="18" name="Picture 17" descr="cre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097280"/>
            <a:ext cx="4572000" cy="493776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19" name="TextBox 18"/>
          <p:cNvSpPr txBox="1"/>
          <p:nvPr/>
        </p:nvSpPr>
        <p:spPr>
          <a:xfrm>
            <a:off x="7040880" y="61447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F6E86"/>
                </a:solidFill>
                <a:latin typeface="Segoe UI"/>
              </a:rPr>
              <a:t>Bảng điều khiển Creator — dữ liệu tách biệt theo nước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VẤN ĐỀ &amp; CƠ HỘI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Affiliate xuyên biên giới — nơi tiền không được phép sai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429000" cy="3749039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3429000" cy="109728"/>
          </a:xfrm>
          <a:prstGeom prst="rect">
            <a:avLst/>
          </a:prstGeom>
          <a:solidFill>
            <a:srgbClr val="F6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2057400"/>
            <a:ext cx="457200" cy="4572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6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97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DF1F8"/>
                </a:solidFill>
                <a:latin typeface="Segoe UI"/>
              </a:rPr>
              <a:t>Cách ly hai thị trường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2880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VN và PH khác nhau tiền tệ (VND/PHP), thuế (10%/8%), mức rút tối thiểu và luật dữ liệu. Server không tin tham số nước từ client — mọi truy vấn scope theo phiên. Một tài khoản, hai hồ sơ độc lập, không trộn KYC/ngân hàng/thu nhập.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737360"/>
            <a:ext cx="3429000" cy="3749039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1737360"/>
            <a:ext cx="3429000" cy="109728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2057400"/>
            <a:ext cx="457200" cy="4572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35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697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DF1F8"/>
                </a:solidFill>
                <a:latin typeface="Segoe UI"/>
              </a:rPr>
              <a:t>Tính đúng của tiền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2880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Tiền lưu số nguyên (minor units) + mã tiền — không dùng float. Nội dung duyệt tạo đúng MỘT khoản thu nhập (exactly-once). Payout có 3 kết cục: PAID · FAIL→hoàn 1 lần · UNKNOWN→giữ tiền, không tự hoàn (tránh double-pay).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737360"/>
            <a:ext cx="3429000" cy="3749039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737360"/>
            <a:ext cx="34290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057400"/>
            <a:ext cx="457200" cy="457200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DF1F8"/>
                </a:solidFill>
                <a:latin typeface="Segoe UI"/>
              </a:rPr>
              <a:t>Minh bạch &amp; niềm tin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83280"/>
            <a:ext cx="2880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Sổ cái append-only: không sửa/xoá bản ghi tiền, chỉ ghi bút toán đảo. Mọi quyết định staff để lại vết audit trong cùng transaction với hành động — không có quyết định thiếu dấu, không có dấu cho việc đã rollback.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2D3EE"/>
                </a:solidFill>
                <a:latin typeface="Segoe UI"/>
              </a:rPr>
              <a:t>Cơ hội: 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3A1B8"/>
                </a:solidFill>
                <a:latin typeface="Segoe UI"/>
              </a:rPr>
              <a:t>creator economy VN + PH đang bùng nổ, nhưng thiếu công cụ vận hành minh bạch, kiểm soát ngân sách và tuân thủ theo từng quốc gia — đây chính là khoảng trống Affiliate GLOBAL lấp.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Năm vai điều hành, một luồng tiền khép kín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632204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Đăng nhập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5164" y="1783080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9484" y="1783080"/>
            <a:ext cx="1632204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29484" y="178308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Chọn nước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783080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7" y="1783080"/>
            <a:ext cx="836675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6E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783080"/>
            <a:ext cx="8366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KYC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683" y="1783080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47003" y="1783080"/>
            <a:ext cx="2162556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7003" y="1783080"/>
            <a:ext cx="21625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Join campaign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1783080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783080"/>
            <a:ext cx="2029967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20299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Nộp nội dung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386584"/>
            <a:ext cx="1632204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6E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386584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Ops duyệt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5164" y="2386584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9484" y="2386584"/>
            <a:ext cx="1499616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29484" y="2386584"/>
            <a:ext cx="14996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Đối soát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9100" y="2386584"/>
            <a:ext cx="274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F6E86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03420" y="2386584"/>
            <a:ext cx="1499616" cy="457200"/>
          </a:xfrm>
          <a:prstGeom prst="roundRect">
            <a:avLst>
              <a:gd name="adj" fmla="val 30000"/>
            </a:avLst>
          </a:prstGeom>
          <a:solidFill>
            <a:srgbClr val="172033"/>
          </a:solidFill>
          <a:ln w="12700">
            <a:solidFill>
              <a:srgbClr val="6E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3420" y="2386584"/>
            <a:ext cx="14996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DF1F8"/>
                </a:solidFill>
                <a:latin typeface="Segoe UI"/>
              </a:rPr>
              <a:t>Rút tiền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154680"/>
            <a:ext cx="5120640" cy="530352"/>
          </a:xfrm>
          <a:prstGeom prst="roundRect">
            <a:avLst>
              <a:gd name="adj" fmla="val 12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3154680"/>
            <a:ext cx="91440" cy="530352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20954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Creator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22783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93A1B8"/>
                </a:solidFill>
                <a:latin typeface="Segoe UI"/>
              </a:rPr>
              <a:t>Tham gia, nộp nội dung, rút thu nhập theo từng nước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758184"/>
            <a:ext cx="5120640" cy="530352"/>
          </a:xfrm>
          <a:prstGeom prst="roundRect">
            <a:avLst>
              <a:gd name="adj" fmla="val 12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3758184"/>
            <a:ext cx="91440" cy="530352"/>
          </a:xfrm>
          <a:prstGeom prst="rect">
            <a:avLst/>
          </a:prstGeom>
          <a:solidFill>
            <a:srgbClr val="5A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81304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Local 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383133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93A1B8"/>
                </a:solidFill>
                <a:latin typeface="Segoe UI"/>
              </a:rPr>
              <a:t>Duyệt KYC &amp; nội dung theo từng field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4361688"/>
            <a:ext cx="5120640" cy="530352"/>
          </a:xfrm>
          <a:prstGeom prst="roundRect">
            <a:avLst>
              <a:gd name="adj" fmla="val 12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361688"/>
            <a:ext cx="91440" cy="53035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441655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Local Admin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4434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93A1B8"/>
                </a:solidFill>
                <a:latin typeface="Segoe UI"/>
              </a:rPr>
              <a:t>Tạo chiến dịch, quy tắc thưởng 3 trục, ngân sách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965192"/>
            <a:ext cx="5120640" cy="530352"/>
          </a:xfrm>
          <a:prstGeom prst="roundRect">
            <a:avLst>
              <a:gd name="adj" fmla="val 12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" y="4965192"/>
            <a:ext cx="91440" cy="530352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502005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Local Finance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03834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93A1B8"/>
                </a:solidFill>
                <a:latin typeface="Segoe UI"/>
              </a:rPr>
              <a:t>Đối soát, khoá batch, payout 3 kết cục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568696"/>
            <a:ext cx="5120640" cy="530352"/>
          </a:xfrm>
          <a:prstGeom prst="roundRect">
            <a:avLst>
              <a:gd name="adj" fmla="val 12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5568696"/>
            <a:ext cx="91440" cy="530352"/>
          </a:xfrm>
          <a:prstGeom prst="rect">
            <a:avLst/>
          </a:prstGeom>
          <a:solidFill>
            <a:srgbClr val="F6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623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Global Admin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564184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93A1B8"/>
                </a:solidFill>
                <a:latin typeface="Segoe UI"/>
              </a:rPr>
              <a:t>Vai duy nhất vượt biên giới: cấu hình + audit</a:t>
            </a:r>
          </a:p>
        </p:txBody>
      </p:sp>
      <p:pic>
        <p:nvPicPr>
          <p:cNvPr id="47" name="Picture 46" descr="ops.png"/>
          <p:cNvPicPr>
            <a:picLocks noChangeAspect="1"/>
          </p:cNvPicPr>
          <p:nvPr/>
        </p:nvPicPr>
        <p:blipFill>
          <a:blip r:embed="rId2"/>
          <a:srcRect b="8810"/>
          <a:stretch>
            <a:fillRect/>
          </a:stretch>
        </p:blipFill>
        <p:spPr>
          <a:xfrm>
            <a:off x="6309360" y="3154680"/>
            <a:ext cx="5120640" cy="297180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48" name="TextBox 47"/>
          <p:cNvSpPr txBox="1"/>
          <p:nvPr/>
        </p:nvSpPr>
        <p:spPr>
          <a:xfrm>
            <a:off x="6309360" y="61996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F6E86"/>
                </a:solidFill>
                <a:latin typeface="Segoe UI"/>
              </a:rPr>
              <a:t>Trung tâm duyệt của Local Ops — khoá đúng thị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BẢO CHỨNG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Bốn trụ cột giữ cho tiền luôn đúng</a:t>
            </a:r>
          </a:p>
        </p:txBody>
      </p:sp>
      <p:pic>
        <p:nvPicPr>
          <p:cNvPr id="5" name="Picture 4" descr="fi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402336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822960" y="59253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F6E86"/>
                </a:solidFill>
                <a:latin typeface="Segoe UI"/>
              </a:rPr>
              <a:t>Bàn tài chính — đối soát, khoá batch, payout 3 kết cục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892040" cy="91440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828800"/>
            <a:ext cx="91440" cy="914400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93852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Tiền = số nguyên + mã tiền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minor units, không float. VND exp 0, PHP exp 2. Sai 1 xu × vạn giao dịch = mất niềm tin.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852928"/>
            <a:ext cx="4892040" cy="91440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2852928"/>
            <a:ext cx="91440" cy="914400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96265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Exactly-once 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3101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Duyệt content tạo đúng 1 khoản thu nhập — unique constraint + transaction, double-click vô hại.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877056"/>
            <a:ext cx="4892040" cy="91440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3877056"/>
            <a:ext cx="91440" cy="914400"/>
          </a:xfrm>
          <a:prstGeom prst="rect">
            <a:avLst/>
          </a:prstGeom>
          <a:solidFill>
            <a:srgbClr val="F5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398678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Payout 3 kết cục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3342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PAID · FAIL→hoàn balance 1 lần · UNKNOWN→giữ tiền chờ xác minh, không tự hoàn.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901184"/>
            <a:ext cx="4892040" cy="91440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37960" y="4901184"/>
            <a:ext cx="91440" cy="914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50109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Ledger + Audit (AD-02)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53583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Sổ cái append-only + vết audit ghi cùng transaction với hành động.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GIAO DIỆN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Bảng điều khiển riêng cho từng vai — responsive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-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93392"/>
            <a:ext cx="3099816" cy="214884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1051560" y="42976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Local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6634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Builder: quy tắc thưởng 3 trục, ngân sách = suất × đơn giá (live)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1993392"/>
            <a:ext cx="3099816" cy="214884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800600" y="42976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Global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46634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Toàn cục: hai nước cạnh nhau, tiền tệ bản địa, không cộng gộp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429000" cy="356616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nding.png"/>
          <p:cNvPicPr>
            <a:picLocks noChangeAspect="1"/>
          </p:cNvPicPr>
          <p:nvPr/>
        </p:nvPicPr>
        <p:blipFill>
          <a:blip r:embed="rId4"/>
          <a:srcRect b="15280"/>
          <a:stretch>
            <a:fillRect/>
          </a:stretch>
        </p:blipFill>
        <p:spPr>
          <a:xfrm>
            <a:off x="8485632" y="1993392"/>
            <a:ext cx="3099816" cy="2148840"/>
          </a:xfrm>
          <a:prstGeom prst="rect">
            <a:avLst/>
          </a:prstGeom>
          <a:ln w="15875">
            <a:solidFill>
              <a:srgbClr val="253149"/>
            </a:solidFill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8549640" y="42976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DF1F8"/>
                </a:solidFill>
                <a:latin typeface="Segoe UI"/>
              </a:rPr>
              <a:t>Cổng vào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6634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Chọn vai để vào đúng bảng điều khiển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3A1B8"/>
                </a:solidFill>
                <a:latin typeface="Segoe UI"/>
              </a:rPr>
              <a:t>Nền dark premium · số tiền tabular · trạng thái luôn icon+chữ+màu · 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DF1F8"/>
                </a:solidFill>
                <a:latin typeface="Segoe UI"/>
              </a:rPr>
              <a:t>màu bản sắc nước (VN hổ phách / PH ngọc lam) hình ảnh hoá cách ly dữ liệu.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NĂNG LỰC LÕI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Bảy bài toán khó &amp; lời giải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15600" cy="384048"/>
          </a:xfrm>
          <a:prstGeom prst="rect">
            <a:avLst/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5486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6E86"/>
                </a:solidFill>
                <a:latin typeface="Segoe U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83080"/>
            <a:ext cx="3840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6E86"/>
                </a:solidFill>
                <a:latin typeface="Segoe UI"/>
              </a:rPr>
              <a:t>BÀI TOÁN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783080"/>
            <a:ext cx="5577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6E86"/>
                </a:solidFill>
                <a:latin typeface="Segoe UI"/>
              </a:rPr>
              <a:t>LỜI GIẢI LÕI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10515600" cy="566928"/>
          </a:xfrm>
          <a:prstGeom prst="rect">
            <a:avLst/>
          </a:prstGeom>
          <a:solidFill>
            <a:srgbClr val="11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67128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Cách ly dữ liệu theo nước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167128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Không tin country từ client; mọi query scope theo phiên → cross-country trả 404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734056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34056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Tiền không dùng 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734056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Lưu minor units (số nguyên) + mã tiền; VND exp 0, PHP exp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00984"/>
            <a:ext cx="10515600" cy="566928"/>
          </a:xfrm>
          <a:prstGeom prst="rect">
            <a:avLst/>
          </a:prstGeom>
          <a:solidFill>
            <a:srgbClr val="11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00984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00984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Exactly-once 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300984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Unique constraint trên nguồn thưởng + transaction; double-click không nhân đôi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67912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67912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Payout 3 trạng thái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867912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FAIL→hoàn 1 lần; UNKNOWN→giữ tiền chờ xác minh, không tự hoàn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434840"/>
            <a:ext cx="10515600" cy="566928"/>
          </a:xfrm>
          <a:prstGeom prst="rect">
            <a:avLst/>
          </a:prstGeom>
          <a:solidFill>
            <a:srgbClr val="11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43484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Snapshot điều khoản lúc Join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434840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Copy terms vào participation; sửa % sau không ảnh hưởng earning cũ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01768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01768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Ledger append-only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001768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Không UPDATE/DELETE tiền; sửa sai bằng bút toán đảo có liên kết gốc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568696"/>
            <a:ext cx="10515600" cy="566928"/>
          </a:xfrm>
          <a:prstGeom prst="rect">
            <a:avLst/>
          </a:prstGeom>
          <a:solidFill>
            <a:srgbClr val="11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568696"/>
            <a:ext cx="548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7BFF"/>
                </a:solidFill>
                <a:latin typeface="Segoe U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568696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Tranh suất &amp; xung đột trạng thái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568696"/>
            <a:ext cx="5577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Khoá hàng campaign + version check; oversell = 0, transition sai → 409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F6E86"/>
                </a:solidFill>
                <a:latin typeface="Segoe UI"/>
              </a:rPr>
              <a:t>Chi tiết + code chứng minh + test: docs/HARD_PROBLEMS.md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TIẾN ĐỘ HIỆN TẠI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DF1F8"/>
                </a:solidFill>
                <a:latin typeface="Segoe UI"/>
              </a:rPr>
              <a:t>Phase 1 — nền tảng đã chạy thật, đầu-cuối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Luồng tiền E2E (VN + 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9202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35D08A"/>
                </a:solidFill>
                <a:latin typeface="Segoe UI"/>
              </a:rPr>
              <a:t>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9424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9424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5 dashboard theo vai · UI thật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5786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35D08A"/>
                </a:solidFill>
                <a:latin typeface="Segoe UI"/>
              </a:rPr>
              <a:t>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07792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907792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Kiểm thử tự động (API + E2E)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2369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35D08A"/>
                </a:solidFill>
                <a:latin typeface="Segoe UI"/>
              </a:rPr>
              <a:t>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566160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566160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i18n vi/en + USD tham chiếu + responsive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6E7BFF"/>
                </a:solidFill>
                <a:latin typeface="Segoe UI"/>
              </a:rPr>
              <a:t>95%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224528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224528"/>
            <a:ext cx="4604004" cy="146304"/>
          </a:xfrm>
          <a:prstGeom prst="roundRect">
            <a:avLst>
              <a:gd name="adj" fmla="val 50000"/>
            </a:avLst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53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DF1F8"/>
                </a:solidFill>
                <a:latin typeface="Segoe UI"/>
              </a:rPr>
              <a:t>Thu phí / Escrow / Apply-flow (thiết kế)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5537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F5B342"/>
                </a:solidFill>
                <a:latin typeface="Segoe UI"/>
              </a:rPr>
              <a:t>40%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82896"/>
            <a:ext cx="4846320" cy="146304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882896"/>
            <a:ext cx="1938528" cy="146304"/>
          </a:xfrm>
          <a:prstGeom prst="roundRect">
            <a:avLst>
              <a:gd name="adj" fmla="val 50000"/>
            </a:avLst>
          </a:prstGeom>
          <a:solidFill>
            <a:srgbClr val="F5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1920240"/>
            <a:ext cx="2468880" cy="118872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920240"/>
            <a:ext cx="91440" cy="1188720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12140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5D08A"/>
                </a:solidFill>
                <a:latin typeface="Segoe UI"/>
              </a:rPr>
              <a:t>105/105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6700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API tests xanh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1920240"/>
            <a:ext cx="2468880" cy="118872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240" y="1920240"/>
            <a:ext cx="91440" cy="1188720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0" y="212140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5D08A"/>
                </a:solidFill>
                <a:latin typeface="Segoe UI"/>
              </a:rPr>
              <a:t>17/17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26700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E2E Playwright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291840"/>
            <a:ext cx="2468880" cy="118872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291840"/>
            <a:ext cx="91440" cy="1188720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9300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6E7BFF"/>
                </a:solidFill>
                <a:latin typeface="Segoe U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416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route /portal (static build)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3291840"/>
            <a:ext cx="2468880" cy="1188720"/>
          </a:xfrm>
          <a:prstGeom prst="roundRect">
            <a:avLst>
              <a:gd name="adj" fmla="val 10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3291840"/>
            <a:ext cx="91440" cy="1188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0" y="349300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2D3EE"/>
                </a:solidFill>
                <a:latin typeface="Segoe UI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40416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A1B8"/>
                </a:solidFill>
                <a:latin typeface="Segoe UI"/>
              </a:rPr>
              <a:t>bảng schema lean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25780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111828"/>
          </a:solidFill>
          <a:ln w="12700">
            <a:solidFill>
              <a:srgbClr val="35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394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5D08A"/>
                </a:solidFill>
                <a:latin typeface="Segoe UI"/>
              </a:rPr>
              <a:t>✓ Đã xong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76072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Cách ly nước · money spine · exactly-once · payout 3 kết cục · ledger + audit AD-02 · RBAC 4 vai · UI thật theo vai.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525780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111828"/>
          </a:solidFill>
          <a:ln w="12700">
            <a:solidFill>
              <a:srgbClr val="F5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5394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B342"/>
                </a:solidFill>
                <a:latin typeface="Segoe UI"/>
              </a:rPr>
              <a:t>→ Đang mở (đã thiết kế, chừa đường)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76072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3A1B8"/>
                </a:solidFill>
                <a:latin typeface="Segoe UI"/>
              </a:rPr>
              <a:t>Thu phí take-rate · escrow prepaid · apply→duyệt campaign đặc thù · CPS/attribution — model sẵn, chưa bật runtime.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2D3EE"/>
                </a:solidFill>
                <a:latin typeface="Segoe UI"/>
              </a:rPr>
              <a:t>LỘ TRÌNH &amp; KẾT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EDF1F8"/>
                </a:solidFill>
                <a:latin typeface="Segoe UI"/>
              </a:rPr>
              <a:t>Từ nền móng vững tới quy mô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429000" cy="292608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429000" cy="109728"/>
          </a:xfrm>
          <a:prstGeom prst="rect">
            <a:avLst/>
          </a:prstGeom>
          <a:solidFill>
            <a:srgbClr val="35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5D08A"/>
                </a:solidFill>
                <a:latin typeface="Segoe UI"/>
              </a:rPr>
              <a:t>Phase 1 — Hiện tại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5D08A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Luồng tiền khép kín VN + 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107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5D08A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107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5 dashboard vai · UI thật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325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5D08A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32504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Cách ly + audit + kiểm thử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920240"/>
            <a:ext cx="3429000" cy="292608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920240"/>
            <a:ext cx="3429000" cy="109728"/>
          </a:xfrm>
          <a:prstGeom prst="rect">
            <a:avLst/>
          </a:prstGeom>
          <a:solidFill>
            <a:srgbClr val="6E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21945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E7BFF"/>
                </a:solidFill>
                <a:latin typeface="Segoe UI"/>
              </a:rPr>
              <a:t>Phase 2 — Mở rộng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7889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E7BFF"/>
                </a:solidFill>
                <a:latin typeface="Segoe U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7889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Brand portal tự phục vụ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107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E7BFF"/>
                </a:solidFill>
                <a:latin typeface="Segoe U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4107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Thu phí + escrow prepaid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325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E7BFF"/>
                </a:solidFill>
                <a:latin typeface="Segoe U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32504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Apply→duyệt campaign đặc thù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1920240"/>
            <a:ext cx="3429000" cy="2926080"/>
          </a:xfrm>
          <a:prstGeom prst="roundRect">
            <a:avLst>
              <a:gd name="adj" fmla="val 5000"/>
            </a:avLst>
          </a:prstGeom>
          <a:solidFill>
            <a:srgbClr val="111828"/>
          </a:solidFill>
          <a:ln w="12700">
            <a:solidFill>
              <a:srgbClr val="253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920240"/>
            <a:ext cx="34290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21945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D3EE"/>
                </a:solidFill>
                <a:latin typeface="Segoe UI"/>
              </a:rPr>
              <a:t>Phase 3 — Quy mô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7889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78892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CPS/attribution đơn hàng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41071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4107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API/webhook công khai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03250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D3EE"/>
                </a:solidFill>
                <a:latin typeface="Segoe U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032504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Thêm quốc gia · i18n mở rộng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5166360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2700">
            <a:solidFill>
              <a:srgbClr val="6E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218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DF1F8"/>
                </a:solidFill>
                <a:latin typeface="Segoe UI"/>
              </a:rPr>
              <a:t>Một nền tảng affiliate đa quốc gia với luồng tiền đúng-đắn từ ngày đầu.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3A1B8"/>
                </a:solidFill>
                <a:latin typeface="Segoe UI"/>
              </a:rPr>
              <a:t>Nền kỹ thuật chắc → mở rộng tính năng là thêm lớp, không phải viết lại.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